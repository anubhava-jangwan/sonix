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Won't this raise false alarms on real speech?
ANSWER: the PartialSpoof papers report segment-level EER separately, so we can measure exactly that.
EFFORT NOTE: New head on frame-level features; overlaps with the planned AASIST rebuild, which also needs frame-level features.
PAPERS:
[1] L. Zhang, X. Wang, E. Cooper, J. Yamagishi, J. Patino, N. Evans. An Initial Investigation for Detecting Partially Spoofed Audio. Interspeech 2021. https://arxiv.org/abs/2104.02518
[2] L. Zhang, X. Wang, E. Cooper, N. Evans, J. Yamagishi. The PartialSpoof Database and Countermeasures for the Detection of Short Fake Speech Segments Embedded in an Utterance. IEEE/ACM TASLP 2023. https://arxiv.org/abs/2204.05177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not just retrain on everything?
ANSWER: old data may be unavailable (licences, deleted shards) and full retraining gets slower with every dataset added.
EFFORT NOTE: Works on the cached embeddings; no re-extraction needed.
PAPERS:
[3] H. Ma, J. Yi, J. Tao, Y. Bai, Z. Tian, C. Wang. Continual Learning for Fake Audio Detection. Interspeech 2021. https://arxiv.org/abs/2104.07286
[4] X. Zhang, J. Yi, J. Tao, C. Wang, C. Y. Zhang. Do You Remember? Overcoming Catastrophic Forgetting for Fake Audio Detection. ICML 2023. https://arxiv.org/abs/2308.03300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Does this break 'frozen front-end' in our PPT?
ANSWER: base weights stay frozen; only adapters are trained, which is what both papers do.
EFFORT NOTE: Needs raw audio in the training loop (no cached embeddings), so it is slower than head-only training.
PAPERS:
[5] C. Wang, J. Yi, X. Zhang, J. Tao, L. Xu, R. Fu. Low-rank Adaptation Method for Wav2vec2-based Fake Audio Detection. DADA Workshop @ IJCAI 2023. https://arxiv.org/abs/2306.05617
[6] Z. Pan, S. H. Bhupendra, J. Wu. MoLEx: Mixture of LoRA Experts in Speech Self-Supervised Models for Audio Deepfake Detection. IEEE ASRU 2025. https://arxiv.org/abs/2509.09175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Isn't this just an ensemble?
ANSWER: Negroni et al. compare against ensembles directly; the gate is input-dependent, an ensemble is not.
EFFORT NOTE: Runs on the v4 embeddings Yugal is already extracting; builds on v4 rather than replacing it.
PAPERS:
[7] Z. Wang, R. Fu, Z. Wen, J. Tao, et al.. Mixture of Experts Fusion for Fake Audio Detection Using Frozen wav2vec 2.0. ICASSP 2025. https://arxiv.org/abs/2409.11909
[8] V. Negroni, D. Salvi, A. I. Mezza, P. Bestagini, S. Tubaro. Leveraging Mixture of Experts for Improved Speech Deepfake Detection. ICASSP 2025. https://arxiv.org/abs/2409.16077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How much accuracy do we lose?
ANSWER: that is the experiment; Pascu et al. report the truncated model beating their AASIST baseline, so the loss is not assumed.
EFFORT NOTE: Teacher already exists once head.pt is recovered; the student needs raw audio.
PAPERS:
[9] O. Pascu, D. Oneata, H. Cucu, N. M. Muller. Detecting Audio Deepfakes on the Edge: Lightweight SSL-Based Detection in a Browser Plugin. arXiv 2026 (preprint). https://arxiv.org/abs/2606.30780
[10] J. Lu, Y. Zhang, W. Wang, Z. Shang, P. Zhang. One-Class Knowledge Distillation for Spoofing Speech Detection. ICASSP 2024. https://arxiv.org/abs/2309.08285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 codec/token-based TTS actually what scammers use?
ANSWER: XTTS-v2, already on our cloning list, is itself a token-based (GPT-style) generator, so we can test our own clones against this family.
EFFORT NOTE: Mostly download + manifest work, which fits the current Anubhav lane.
PAPERS:
[11] H. Wu, Y. Tseng, H.-y. Lee. CodecFake: Enhancing Anti-Spoofing Models Against Deepfake Audios from Codec-Based Speech Synthesis Systems. Interspeech 2024. https://arxiv.org/abs/2406.07237
[12] Y. Xie, et al.. The Codecfake Dataset and Countermeasures for the Universally Detection of Deepfake Audio. IEEE/ACM TASLP 2025. https://arxiv.org/abs/2405.04880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Isn't replay a physical-access problem, not ours?
ANSWER: in a phone call the attacker controls the speaker, so logical and physical access merge.
EFFORT NOTE: Can reuse the volunteer recording sessions planned for sonix_real/.
PAPERS:
[13] N. M. Muller, P. Kawa, et al.. Replay Attacks Against Audio Deepfake Detection. Interspeech 2025. https://arxiv.org/abs/2505.14862
[14] X. Wang, J. Yamagishi, et al.. ASVspoof 2019: A Large-Scale Public Database of Synthesized, Converted and Replayed Speech. Computer Speech &amp; Language 2020. https://arxiv.org/abs/1911.01601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How is this different from RawBoost?
ANSWER: RawBoost is synthetic signal-level noise; laundering uses real noise, reverb and codecs, and gives a per-condition eval table the jury can read.
EFFORT NOTE: Coordinate with Navya's MUSAN/RIR download and the in-progress RawBoost work so augmentation is not duplicated.
PAPERS:
[15] H. Ali, et al.. Is Audio Spoof Detection Robust to Laundering Attacks?. ACM IH&amp;MMSec 2024. https://arxiv.org/abs/2408.14712
[16] H. Ali, S. Subramani, S. Sudhir, R. Varahamurthy, H. Malik. Augmentation through Laundering Attacks for Audio Spoof Detection. ASVspoof 2024 Workshop. https://arxiv.org/abs/2410.01108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 this realistic over a phone line?
ANSWER: channel codecs weaken perturbations, which is itself a finding worth measuring.
EFFORT NOTE: The attack side is a short script; adversarial training costs extra training time.
PAPERS:
[17] S. Liu, H. Wu, H.-y. Lee, H. Meng. Adversarial Attacks on Spoofing Countermeasures of Automatic Speaker Verification. IEEE ASRU 2019. https://arxiv.org/abs/1910.08716
[18] H. Wu, et al.. Defense Against Adversarial Attacks on Spoofing Countermeasures of ASV. ICASSP 2020. https://arxiv.org/abs/2003.03065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not just simulate codecs?
ANSWER: platforms apply unknown noise suppression and AGC that no codec simulator reproduces.
EFFORT NOTE: Extends Anubhav's codec lane; the paired design also answers the jury's 'does it work on a real call' question with data.
PAPERS:
[19] J. Xue, Z. Yi, Y. Huang, Y. Ren, Y. Chen, C. Fan, Z. Su, Y. Zhang, B. Cai. RTCFake: Speech Deepfake Detection in Real-Time Communication. Findings of ACL 2026. https://arxiv.org/abs/2604.23742
[20] H. Shi, X. Shi, S. Dogan, S. Alzubi, T. Huang, Y. Zhang. Benchmarking Audio Deepfake Detection Robustness in Real-world Communication Scenarios. IEEE conference paper, 2025. https://arxiv.org/abs/2504.12423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Isn't it awkward for users?
ANSWER: PITCH tested this with 100 users and reports the human-AI team at 84.5% accuracy.
EFFORT NOTE: Pure UI + audit-trail work on top of the existing band logic.
PAPERS:
[21] G. Mittal, A. Jakobsson, K. O. Marshall, C. Hegde, N. Memon. PITCH: AI-assisted Tagging of Deepfake Audio Calls using Challenge-Response. ACM AsiaCCS 2025. https://arxiv.org/abs/2402.18085
[22] K. T. Mai, S. Bray, T. Davies, L. D. Griffin. Warning: Humans Cannot Reliably Detect Speech Deepfakes. PLOS ONE 2023. https://arxiv.org/abs/2301.07829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Doesn't transcribing calls hurt privacy?
ANSWER: process locally, store only the scores, same as today's audit trail.
EFFORT NOTE: Needs an ASR model that handles Indian languages plus an LLM step; privacy review required.
PAPERS:
[23] Z. Shen, S. Yan, Y. Zhang, X. Luo, G. Ngai, E. Y. Fu. "It Warned Me Just at the Right Moment": Exploring LLM-based Real-time Detection of Phone Scams. CHI 2025 Extended Abstracts. https://arxiv.org/abs/2502.03964
[24] Z. Ma, et al.. TeleAntiFraud-28k: An Audio-Text Slow-Thinking Dataset for Telecom Fraud Detection. ACM Multimedia 2025. https://arxiv.org/abs/2503.24115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Will diarisation be fast enough?
ANSWER: measure with realtime/selftest.py; if not, diarise only when the mixed score leaves Green.
EFFORT NOTE: pyannote is off-the-shelf; the cost is extra GPU time on an already tight budget.
PAPERS:
[25] H. Bredin. pyannote.audio 2.1 Speaker Diarization Pipeline: Principle, Benchmark, and Recipe. Interspeech 2023. https://www.isca-archive.org/interspeech_2023/bredin23_interspeech.html
[26] S. Roy. Zero-Shot Temporal Localisation of Audio Deepfakes in Multi-Speaker Conversations. arXiv 2026 (preprint). https://arxiv.org/abs/2609.10051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Aren't short windows less accurate?
ANSWER: yes, so the early score is shown as provisional, and the 'Hi!' paper targets exactly 0.5-2 s inputs.
EFFORT NOTE: Needs short-window embeddings; demo/windowing.py already handles windowing.
PAPERS:
[27] H. Shi, X. Shi, S. Dogan, T. Huang, Y. Zhang. Audio Deepfake Detection at the First Greeting: "Hi!". arXiv 2026 (preprint). https://arxiv.org/abs/2601.19573
[28] X. Xuan, Z. Zhu, W. Zhang, Y.-C. Lin, T. Kinnunen. Fake-Mamba: Real-Time Speech Deepfake Detection Using Bidirectional Mamba as Self-Attention's Alternative. IEEE ASRU 2025. https://arxiv.org/abs/2508.09294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 this still SONIX's scope?
ANSWER: the problem statement is voice cloning on calls, and a video call is a call; audio stays primary.
EFFORT NOTE: New modality and new model; best pitched as a finale/stretch item.
PAPERS:
[29] S. A. Shahzad, A. Hashmi, Y.-T. Peng, Y. Tsao, H.-M. Wang. AV-Lip-Sync+: Leveraging AV-HuBERT to Exploit Multimodal Inconsistency for Deepfake Detection of Frontal Face Videos. arXiv 2023. https://arxiv.org/abs/2311.02733
[30] S. Kaur, M. Buhari, N. Khandelwal, P. Tyagi, K. Sharma. Hindi audio-video-Deepfake (HAV-DF): A Hindi Language-based Audio-video Deepfake Dataset. arXiv 2024. https://arxiv.org/abs/2411.15457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not just add more Indic data?
ANSWER: ArEnAV shows monolingual data does not cover intra-sentence switching; it needs its own test.
EFFORT NOTE: Test set can piggyback on the sonix_real/ volunteer sessions.
PAPERS:
[31] K. Kuckreja, et al.. Tell me Habibi, is it Real or Fake?. ICLR 2026. https://arxiv.org/abs/2505.22581
[32] T. Liu, I. Kukanov, Z. Pan, Q. Wang, H. B. Sailor, K. A. Lee. Towards Quantifying and Reducing Language Mismatch Effects in Cross-Lingual Speech Anti-Spoofing. IEEE SLT 2024. https://arxiv.org/abs/2409.08346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 vocoded speech a realistic attack?
ANSWER: every neural TTS ends in a vocoder, and Wang &amp; Yamagishi show the approach improves unseen-attack test sets including In-the-Wild.
EFFORT NOTE: Blocked on IndicVoices raw audio arriving (Navya's current top task).
PAPERS:
[33] X. Wang, J. Yamagishi. Spoofed Training Data for Speech Spoofing Countermeasure Can Be Efficiently Created Using Neural Vocoders. ICASSP 2023. https://arxiv.org/abs/2210.10570
[34] X. Wang, J. Yamagishi. Can Large-Scale Vocoded Spoofed Data Improve Speech Spoofing Countermeasure with a Self-Supervised Front End?. ICASSP 2024. https://arxiv.org/abs/2309.06014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Can adaptation make things worse?
ANSWER: yes; both papers report it as a measured trade-off, so we keep the unadapted model as fallback.
EFFORT NOTE: Research-risky; strongest as a measured experiment, not a guaranteed feature.
PAPERS:
[35] H. Oiso, et al.. Prompt Tuning for Audio Deepfake Detection: Computationally Efficient Test-time Domain Adaptation with Limited Target Dataset. Interspeech 2024. https://arxiv.org/abs/2410.09869
[36] U. Thani, G. Singh, P. Singh. Unsupervised Domain Adaptation for Audio Deepfake Detection with Modular Statistical Transformations. arXiv 2026 (preprint). https://arxiv.org/abs/2603.07935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How is this different from continual learning (Yugal)?
ANSWER: continual learning absorbs a new dataset permanently; few-shot adapts from a handful of clips at run time.
EFFORT NOTE: The GP variant runs on cached embeddings.
PAPERS:
[37] N. Glazer, D. Chernin, I. Achituve, S. Gannot, E. Fetaya. Few-Shot Speech Deepfake Detection Adaptation with Gaussian Processes. Interspeech 2025. https://arxiv.org/abs/2505.23619
[38] J. Laakkonen, I. Kukanov, V. Hautamaki. Generalizable Speech Deepfake Detection via Meta-Learned LoRA. arXiv 2025. https://arxiv.org/abs/2502.10838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Will emotional real speakers be flagged?
ANSWER: that is a false-alarm test we can run on the IndicVoices holdout.
EFFORT NOTE: Extra feature extractor per window; check latency budget.
PAPERS:
[39] E. Conti, D. Salvi, C. Borrelli, B. Hosler, P. Bestagini, F. Antonacci, A. Sarti, M. C. Stamm, S. Tubaro. Deepfake Speech Detection Through Emotion Recognition: A Semantic Approach. ICASSP 2022. https://www.semanticscholar.org/paper/c49e8306eac9514cd9d6c47634a4b93d0338d56f
[40] L. Attorresi, D. Salvi, C. Borrelli, P. Bestagini, S. Tubaro. Combining Automatic Speaker Verification and Prosody Analysis for Synthetic Speech Detection. ICPR 2022 Workshops. https://arxiv.org/abs/2210.17222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Doesn't enrolment create a biometric privacy risk?
ANSWER: store embeddings only, on-device, with explicit consent, same posture as today.
EFFORT NOTE: Speaker-verification models are off-the-shelf; consent flow reuses the existing pairing/consent gate.
PAPERS:
[41] J.-w. Jung, H. Tak, H.-j. Shim, H.-S. Heo, B.-J. Lee, S.-W. Chung, H.-J. Yu, N. Evans, T. Kinnunen. SASV 2022: The First Spoofing-Aware Speaker Verification Challenge. Interspeech 2022. https://arxiv.org/abs/2203.14732
[42] H.-j. Shim, J.-w. Jung, et al.. a-DCF: an Architecture Agnostic Metric with Application to Spoofing-Robust Speaker Verification. Odyssey 2024. https://arxiv.org/abs/2403.01355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Scammers won't use watermarked tools.
ANSWER: correct, so it is a bonus signal, never a replacement; absence of a watermark means nothing.
EFFORT NOTE: Both have open-source code; mostly integration and a robustness test.
PAPERS:
[43] R. San Roman, P. Fernandez, et al.. Proactive Detection of Voice Cloning with Localized Watermarking (AudioSeal). ICML 2024. https://arxiv.org/abs/2401.17264
[44] G. Chen, Y. Wu, S. Liu, T. Liu, X. Du, F. Wei. WavMark: Watermarking for Audio Generation. arXiv 2023. https://arxiv.org/abs/2308.12770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Does protected audio still sound normal?
ANSWER: AntiFake ran a 24-person usability test; we would run our own listening check.
EFFORT NOTE: Research code is available; the verification loop reuses Akshat's cloning pipeline.
PAPERS:
[45] Z. Yu, S. Zhai, N. Zhang. AntiFake: Using Adversarial Audio to Prevent Unauthorized Speech Synthesis. ACM CCS 2023. https://dl.acm.org/doi/10.1145/3576915.3623209
[46] Z. Zhang, et al.. SafeSpeech: Robust and Universal Voice Protection Against Malicious Speech Synthesis. USENIX Security 2025. https://arxiv.org/abs/2504.09839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hold them out rather than train?
ANSWER: held-out measures real generalisation; the brief's hard rule 7 keeps test sets out of training.
EFFORT NOTE: Download + manifest + eval only; no new model.
PAPERS:
[47] K. Bhagtani, A. K. S. Yadav, P. Bestagini, E. J. Delp. DiffSSD: A Diffusion-Based Dataset for Speech Forensics. ICASSP 2025. https://arxiv.org/abs/2409.13049
[48] J. Du, I-M. Lin, I-H. Chiu, X. Chen, H. Wu, W. Ren, Y. Tsao, H.-y. Lee, J.-S. R. Jang. DFADD: The Diffusion and Flow-Matching Based Audio Deepfake Dataset. IEEE SLT 2024. https://arxiv.org/abs/2409.08731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trust the RVC paper's numbers?
ANSWER: we don't copy its number; we cite it for the threat model and re-test with recording-level splits.
EFFORT NOTE: RVC runs on consumer GPUs; volunteer consent form already exists (docs/CONSENT_FORM.md).
PAPERS:
[49] P. Chinchmalatpure, et al.. Defense Against Synthetic Speech: Real-Time Detection of RVC Voice Conversion Attacks. arXiv 2026 (preprint). https://arxiv.org/abs/2601.04227
[50] A. Sharma, G. Wang. VoxENES 2026: Benchmarking Generalization of Speech Spoofing Detectors Against LLM-Era TTS and Voice Conversion. arXiv 2026 (preprint). https://arxiv.org/abs/2607.11706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Can explanations be trusted?
ANSWER: Grinberg et al. show XAI methods disagree and test faithfulness quantitatively, so we would report which method we used and why.
EFFORT NOTE: Offline analysis tool first; live overlay later.
PAPERS:
[51] W. Ge, J. Patino, M. Todisco, N. Evans. Explaining Deep Learning Models for Spoofing and Deepfake Detection with SHapley Additive exPlanations. ICASSP 2022. https://arxiv.org/abs/2110.03309
[52] P. Grinberg, A. Kumar, S. Koppisetti, G. Bharaj. What Does an Audio Deepfake Detector Focus on? A Study in the Time Domain. ICASSP 2025. https://arxiv.org/abs/2501.13887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How is this different from calibration?
ANSWER: calibration fixes the score's scale; uncertainty flags inputs the model has not seen before.
EFFORT NOTE: Head-only change on cached embeddings; complements, not replaces, Yukti's temperature-scaling work.
PAPERS:
[53] J. Y. Kang, et al.. FADEL: Uncertainty-aware Fake Audio Detection with Evidential Deep Learning. ICASSP 2025. https://arxiv.org/abs/2504.15663
[54] C. Ding, J. Xue, C. Wang, H. Zhou. Trusted Fake Audio Detection Based on Dirichlet Distribution. Interspeech 2025. https://arxiv.org/abs/2506.02401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What if we find a bias?
ANSWER: the Fursule et al. framework covers mitigation, e.g. group-aware thresholds.
EFFORT NOTE: Metrics work on existing scores; fits Yukti's current lane exactly.
PAPERS:
[55] A. Fursule, S. Kshirsagar, A. R. Avila. Gender Fairness in Audio Deepfake Detection: Performance and Disparity Analysis. arXiv 2026. https://arxiv.org/abs/2603.09007
[56] A. Fursule, S. Kshirsagar, A. R. Avila. Towards Trustworthy Audio Deepfake Detection: A Systematic Framework for Diagnosing and Mitigating Gender Bias. arXiv 2026. https://arxiv.org/abs/2605.09087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What if the EER gets worse?
ANSWER: then we have found a real bug before the jury did, and the honest number is the trimmed one.
EFFORT NOTE: Evaluation-only; a small script plus one re-extraction of trimmed eval audio (resumable).
PAPERS:
[57] N. M. Muller, F. Dieckmann, P. Czempin, R. Canals, K. Bottinger, J. Williams. Speech is Silver, Silence is Golden: What do ASVspoof-trained Models Really Learn?. ASVspoof 2021 Workshop. https://arxiv.org/abs/2106.12914
[58] Y. Zhang, Z. Li, J. Lu, H. Hua, W. Wang, P. Zhang. The Impact of Silence on Speech Anti-Spoofing. IEEE/ACM TASLP 2023. https://arxiv.org/abs/2309.11827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Won't the LLM hallucinate?
ANSWER: Li et al. ground the text in XAI evidence for exactly this reason; we'd show evidence next to the sentence.
EFFORT NOTE: Depends on the heatmap feature; LLM call can be offline/post-call at first.
PAPERS:
[59] A. Dvirniak, E. Kushnir, D. Tarasov, et al.. Towards Robust Speech Deepfake Detection via Human-Inspired Reasoning. arXiv 2026. https://arxiv.org/abs/2603.10725
[60] Y. Li, Q. Sun, X. Wu, C. Wang, B. Sisman, B. W. Schuller. XAI-Grounded Explanation Generation for Speech Deepfake Detection with Training-Free Multimodal Large Language Models. arXiv 2026. https://arxiv.org/abs/2606.16137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104.02518" TargetMode="External"/><Relationship Id="rId2" Type="http://schemas.openxmlformats.org/officeDocument/2006/relationships/hyperlink" Target="https://arxiv.org/abs/2204.05177"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104.07286" TargetMode="External"/><Relationship Id="rId2" Type="http://schemas.openxmlformats.org/officeDocument/2006/relationships/hyperlink" Target="https://arxiv.org/abs/2308.03300"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06.05617" TargetMode="External"/><Relationship Id="rId2" Type="http://schemas.openxmlformats.org/officeDocument/2006/relationships/hyperlink" Target="https://arxiv.org/abs/2509.09175"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409.11909" TargetMode="External"/><Relationship Id="rId2" Type="http://schemas.openxmlformats.org/officeDocument/2006/relationships/hyperlink" Target="https://arxiv.org/abs/2409.16077"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30780" TargetMode="External"/><Relationship Id="rId2" Type="http://schemas.openxmlformats.org/officeDocument/2006/relationships/hyperlink" Target="https://arxiv.org/abs/2309.08285"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406.07237" TargetMode="External"/><Relationship Id="rId2" Type="http://schemas.openxmlformats.org/officeDocument/2006/relationships/hyperlink" Target="https://arxiv.org/abs/2405.04880"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rxiv.org/abs/2505.14862" TargetMode="External"/><Relationship Id="rId2" Type="http://schemas.openxmlformats.org/officeDocument/2006/relationships/hyperlink" Target="https://arxiv.org/abs/1911.01601"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408.14712" TargetMode="External"/><Relationship Id="rId2" Type="http://schemas.openxmlformats.org/officeDocument/2006/relationships/hyperlink" Target="https://arxiv.org/abs/2410.01108"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rxiv.org/abs/1910.08716" TargetMode="External"/><Relationship Id="rId2" Type="http://schemas.openxmlformats.org/officeDocument/2006/relationships/hyperlink" Target="https://arxiv.org/abs/2003.03065"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rxiv.org/abs/2604.23742" TargetMode="External"/><Relationship Id="rId2" Type="http://schemas.openxmlformats.org/officeDocument/2006/relationships/hyperlink" Target="https://arxiv.org/abs/2504.12423"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2402.18085" TargetMode="External"/><Relationship Id="rId2" Type="http://schemas.openxmlformats.org/officeDocument/2006/relationships/hyperlink" Target="https://arxiv.org/abs/2301.07829"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rxiv.org/abs/2502.03964" TargetMode="External"/><Relationship Id="rId2" Type="http://schemas.openxmlformats.org/officeDocument/2006/relationships/hyperlink" Target="https://arxiv.org/abs/2503.24115"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isca-archive.org/interspeech_2023/bredin23_interspeech.html" TargetMode="External"/><Relationship Id="rId2" Type="http://schemas.openxmlformats.org/officeDocument/2006/relationships/hyperlink" Target="https://arxiv.org/abs/2609.10051"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rxiv.org/abs/2601.19573" TargetMode="External"/><Relationship Id="rId2" Type="http://schemas.openxmlformats.org/officeDocument/2006/relationships/hyperlink" Target="https://arxiv.org/abs/2508.09294"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rxiv.org/abs/2311.02733" TargetMode="External"/><Relationship Id="rId2" Type="http://schemas.openxmlformats.org/officeDocument/2006/relationships/hyperlink" Target="https://arxiv.org/abs/2411.15457"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rxiv.org/abs/2505.22581" TargetMode="External"/><Relationship Id="rId2" Type="http://schemas.openxmlformats.org/officeDocument/2006/relationships/hyperlink" Target="https://arxiv.org/abs/2409.08346"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rxiv.org/abs/2210.10570" TargetMode="External"/><Relationship Id="rId2" Type="http://schemas.openxmlformats.org/officeDocument/2006/relationships/hyperlink" Target="https://arxiv.org/abs/2309.06014"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arxiv.org/abs/2410.09869" TargetMode="External"/><Relationship Id="rId2" Type="http://schemas.openxmlformats.org/officeDocument/2006/relationships/hyperlink" Target="https://arxiv.org/abs/2603.07935" TargetMode="Externa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arxiv.org/abs/2505.23619" TargetMode="External"/><Relationship Id="rId2" Type="http://schemas.openxmlformats.org/officeDocument/2006/relationships/hyperlink" Target="https://arxiv.org/abs/2502.10838" TargetMode="External"/><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www.semanticscholar.org/paper/c49e8306eac9514cd9d6c47634a4b93d0338d56f" TargetMode="External"/><Relationship Id="rId2" Type="http://schemas.openxmlformats.org/officeDocument/2006/relationships/hyperlink" Target="https://arxiv.org/abs/2210.17222"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rxiv.org/abs/2203.14732" TargetMode="External"/><Relationship Id="rId2" Type="http://schemas.openxmlformats.org/officeDocument/2006/relationships/hyperlink" Target="https://arxiv.org/abs/2403.01355" TargetMode="External"/><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arxiv.org/abs/2401.17264" TargetMode="External"/><Relationship Id="rId2" Type="http://schemas.openxmlformats.org/officeDocument/2006/relationships/hyperlink" Target="https://arxiv.org/abs/2308.12770" TargetMode="External"/><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l.acm.org/doi/10.1145/3576915.3623209" TargetMode="External"/><Relationship Id="rId2" Type="http://schemas.openxmlformats.org/officeDocument/2006/relationships/hyperlink" Target="https://arxiv.org/abs/2504.09839" TargetMode="External"/><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arxiv.org/abs/2409.13049" TargetMode="External"/><Relationship Id="rId2" Type="http://schemas.openxmlformats.org/officeDocument/2006/relationships/hyperlink" Target="https://arxiv.org/abs/2409.08731" TargetMode="External"/><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arxiv.org/abs/2601.04227" TargetMode="External"/><Relationship Id="rId2" Type="http://schemas.openxmlformats.org/officeDocument/2006/relationships/hyperlink" Target="https://arxiv.org/abs/2607.11706" TargetMode="Externa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arxiv.org/abs/2110.03309" TargetMode="External"/><Relationship Id="rId2" Type="http://schemas.openxmlformats.org/officeDocument/2006/relationships/hyperlink" Target="https://arxiv.org/abs/2501.13887" TargetMode="External"/><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arxiv.org/abs/2504.15663" TargetMode="External"/><Relationship Id="rId2" Type="http://schemas.openxmlformats.org/officeDocument/2006/relationships/hyperlink" Target="https://arxiv.org/abs/2506.02401"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arxiv.org/abs/2603.09007" TargetMode="External"/><Relationship Id="rId2" Type="http://schemas.openxmlformats.org/officeDocument/2006/relationships/hyperlink" Target="https://arxiv.org/abs/2605.09087" TargetMode="External"/><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arxiv.org/abs/2106.12914" TargetMode="External"/><Relationship Id="rId2" Type="http://schemas.openxmlformats.org/officeDocument/2006/relationships/hyperlink" Target="https://arxiv.org/abs/2309.11827" TargetMode="External"/><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arxiv.org/abs/2603.10725" TargetMode="External"/><Relationship Id="rId2" Type="http://schemas.openxmlformats.org/officeDocument/2006/relationships/hyperlink" Target="https://arxiv.org/abs/2606.16137" TargetMode="External"/><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685800"/>
            <a:ext cx="182880" cy="182880"/>
          </a:xfrm>
          <a:prstGeom prst="ellipse">
            <a:avLst/>
          </a:prstGeom>
          <a:solidFill>
            <a:srgbClr val="2E9E5B"/>
          </a:solidFill>
          <a:ln w="12700">
            <a:solidFill>
              <a:srgbClr val="2E9E5B"/>
            </a:solidFill>
            <a:prstDash val="solid"/>
          </a:ln>
        </p:spPr>
      </p:sp>
      <p:sp>
        <p:nvSpPr>
          <p:cNvPr id="3" name="Shape 1"/>
          <p:cNvSpPr/>
          <p:nvPr/>
        </p:nvSpPr>
        <p:spPr>
          <a:xfrm>
            <a:off x="841248" y="685800"/>
            <a:ext cx="182880" cy="182880"/>
          </a:xfrm>
          <a:prstGeom prst="ellipse">
            <a:avLst/>
          </a:prstGeom>
          <a:solidFill>
            <a:srgbClr val="FCA311"/>
          </a:solidFill>
          <a:ln w="12700">
            <a:solidFill>
              <a:srgbClr val="FCA311"/>
            </a:solidFill>
            <a:prstDash val="solid"/>
          </a:ln>
        </p:spPr>
      </p:sp>
      <p:sp>
        <p:nvSpPr>
          <p:cNvPr id="4" name="Shape 2"/>
          <p:cNvSpPr/>
          <p:nvPr/>
        </p:nvSpPr>
        <p:spPr>
          <a:xfrm>
            <a:off x="1133856" y="685800"/>
            <a:ext cx="182880" cy="182880"/>
          </a:xfrm>
          <a:prstGeom prst="ellipse">
            <a:avLst/>
          </a:prstGeom>
          <a:solidFill>
            <a:srgbClr val="C0392B"/>
          </a:solidFill>
          <a:ln w="12700">
            <a:solidFill>
              <a:srgbClr val="C0392B"/>
            </a:solidFill>
            <a:prstDash val="solid"/>
          </a:ln>
        </p:spPr>
      </p:sp>
      <p:sp>
        <p:nvSpPr>
          <p:cNvPr id="5" name="Text 3"/>
          <p:cNvSpPr txBox="1"/>
          <p:nvPr/>
        </p:nvSpPr>
        <p:spPr>
          <a:xfrm>
            <a:off x="548640" y="1051560"/>
            <a:ext cx="7315200" cy="320040"/>
          </a:xfrm>
          <a:prstGeom prst="rect">
            <a:avLst/>
          </a:prstGeom>
          <a:noFill/>
          <a:ln/>
        </p:spPr>
        <p:txBody>
          <a:bodyPr wrap="square" lIns="0" tIns="0" rIns="0" bIns="0" rtlCol="0" anchor="t"/>
          <a:lstStyle/>
          <a:p>
            <a:pPr indent="0" marL="0">
              <a:buNone/>
            </a:pPr>
            <a:r>
              <a:rPr lang="en-US" sz="1400" b="1" spc="200" kern="0" dirty="0">
                <a:solidFill>
                  <a:srgbClr val="FCA311"/>
                </a:solidFill>
                <a:latin typeface="Calibri" pitchFamily="34" charset="0"/>
                <a:ea typeface="Calibri" pitchFamily="34" charset="-122"/>
                <a:cs typeface="Calibri" pitchFamily="34" charset="-120"/>
              </a:rPr>
              <a:t>SONIX  |  SIH26104</a:t>
            </a:r>
            <a:endParaRPr lang="en-US" sz="1400" dirty="0"/>
          </a:p>
        </p:txBody>
      </p:sp>
      <p:sp>
        <p:nvSpPr>
          <p:cNvPr id="6" name="Text 4"/>
          <p:cNvSpPr txBox="1"/>
          <p:nvPr/>
        </p:nvSpPr>
        <p:spPr>
          <a:xfrm>
            <a:off x="548640" y="1463040"/>
            <a:ext cx="804672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What should SONIX do next?</a:t>
            </a:r>
            <a:endParaRPr lang="en-US" sz="4000" dirty="0"/>
          </a:p>
        </p:txBody>
      </p:sp>
      <p:sp>
        <p:nvSpPr>
          <p:cNvPr id="7" name="Text 5"/>
          <p:cNvSpPr txBox="1"/>
          <p:nvPr/>
        </p:nvSpPr>
        <p:spPr>
          <a:xfrm>
            <a:off x="548640" y="2331720"/>
            <a:ext cx="8046720" cy="45720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30 candidate features backed by 60 research papers, 5 per team member</a:t>
            </a:r>
            <a:endParaRPr lang="en-US" sz="1800" dirty="0"/>
          </a:p>
        </p:txBody>
      </p:sp>
      <p:sp>
        <p:nvSpPr>
          <p:cNvPr id="8" name="Text 6"/>
          <p:cNvSpPr txBox="1"/>
          <p:nvPr/>
        </p:nvSpPr>
        <p:spPr>
          <a:xfrm>
            <a:off x="548640" y="3931920"/>
            <a:ext cx="8046720" cy="3200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Yugal  ·  Anubhav  ·  Suryansh  ·  Navya  ·  Akshat  ·  Yukti</a:t>
            </a:r>
            <a:endParaRPr lang="en-US" sz="1300" dirty="0"/>
          </a:p>
        </p:txBody>
      </p:sp>
      <p:sp>
        <p:nvSpPr>
          <p:cNvPr id="9" name="Text 7"/>
          <p:cNvSpPr txBox="1"/>
          <p:nvPr/>
        </p:nvSpPr>
        <p:spPr>
          <a:xfrm>
            <a:off x="548640" y="4297680"/>
            <a:ext cx="8046720" cy="274320"/>
          </a:xfrm>
          <a:prstGeom prst="rect">
            <a:avLst/>
          </a:prstGeom>
          <a:noFill/>
          <a:ln/>
        </p:spPr>
        <p:txBody>
          <a:bodyPr wrap="square" lIns="0" tIns="0" rIns="0" bIns="0" rtlCol="0" anchor="t"/>
          <a:lstStyle/>
          <a:p>
            <a:pPr indent="0" marL="0">
              <a:buNone/>
            </a:pPr>
            <a:r>
              <a:rPr lang="en-US" sz="1100" dirty="0">
                <a:solidFill>
                  <a:srgbClr val="8C97AD"/>
                </a:solidFill>
                <a:latin typeface="Calibri" pitchFamily="34" charset="0"/>
                <a:ea typeface="Calibri" pitchFamily="34" charset="-122"/>
                <a:cs typeface="Calibri" pitchFamily="34" charset="-120"/>
              </a:rPr>
              <a:t>Mentor review,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3000" b="1" dirty="0">
                <a:solidFill>
                  <a:srgbClr val="14213D"/>
                </a:solidFill>
                <a:latin typeface="Cambria" pitchFamily="34" charset="0"/>
                <a:ea typeface="Cambria" pitchFamily="34" charset="-122"/>
                <a:cs typeface="Cambria" pitchFamily="34" charset="-120"/>
              </a:rPr>
              <a:t>How we did the research</a:t>
            </a:r>
            <a:endParaRPr lang="en-US" sz="3000" dirty="0"/>
          </a:p>
        </p:txBody>
      </p:sp>
      <p:sp>
        <p:nvSpPr>
          <p:cNvPr id="3" name="Shape 1"/>
          <p:cNvSpPr/>
          <p:nvPr/>
        </p:nvSpPr>
        <p:spPr>
          <a:xfrm>
            <a:off x="457200" y="1143000"/>
            <a:ext cx="2606040" cy="2377440"/>
          </a:xfrm>
          <a:prstGeom prst="roundRect">
            <a:avLst>
              <a:gd name="adj" fmla="val 3077"/>
            </a:avLst>
          </a:prstGeom>
          <a:solidFill>
            <a:srgbClr val="EEF1F6"/>
          </a:solidFill>
          <a:ln w="12700">
            <a:solidFill>
              <a:srgbClr val="EEF1F6"/>
            </a:solidFill>
            <a:prstDash val="solid"/>
          </a:ln>
        </p:spPr>
      </p:sp>
      <p:sp>
        <p:nvSpPr>
          <p:cNvPr id="4" name="Text 2"/>
          <p:cNvSpPr txBox="1"/>
          <p:nvPr/>
        </p:nvSpPr>
        <p:spPr>
          <a:xfrm>
            <a:off x="685800" y="1325880"/>
            <a:ext cx="2194560" cy="731520"/>
          </a:xfrm>
          <a:prstGeom prst="rect">
            <a:avLst/>
          </a:prstGeom>
          <a:noFill/>
          <a:ln/>
        </p:spPr>
        <p:txBody>
          <a:bodyPr wrap="square" lIns="0" tIns="0" rIns="0" bIns="0" rtlCol="0" anchor="t"/>
          <a:lstStyle/>
          <a:p>
            <a:pPr indent="0" marL="0">
              <a:buNone/>
            </a:pPr>
            <a:r>
              <a:rPr lang="en-US" sz="4400" b="1" dirty="0">
                <a:solidFill>
                  <a:srgbClr val="14213D"/>
                </a:solidFill>
                <a:latin typeface="Cambria" pitchFamily="34" charset="0"/>
                <a:ea typeface="Cambria" pitchFamily="34" charset="-122"/>
                <a:cs typeface="Cambria" pitchFamily="34" charset="-120"/>
              </a:rPr>
              <a:t>60</a:t>
            </a:r>
            <a:endParaRPr lang="en-US" sz="4400" dirty="0"/>
          </a:p>
        </p:txBody>
      </p:sp>
      <p:sp>
        <p:nvSpPr>
          <p:cNvPr id="5" name="Text 3"/>
          <p:cNvSpPr txBox="1"/>
          <p:nvPr/>
        </p:nvSpPr>
        <p:spPr>
          <a:xfrm>
            <a:off x="685800" y="2057400"/>
            <a:ext cx="2194560" cy="274320"/>
          </a:xfrm>
          <a:prstGeom prst="rect">
            <a:avLst/>
          </a:prstGeom>
          <a:noFill/>
          <a:ln/>
        </p:spPr>
        <p:txBody>
          <a:bodyPr wrap="square" lIns="0" tIns="0" rIns="0" bIns="0" rtlCol="0" anchor="t"/>
          <a:lstStyle/>
          <a:p>
            <a:pPr indent="0" marL="0">
              <a:buNone/>
            </a:pPr>
            <a:r>
              <a:rPr lang="en-US" sz="1100" b="1" spc="200" kern="0" dirty="0">
                <a:solidFill>
                  <a:srgbClr val="B7791F"/>
                </a:solidFill>
                <a:latin typeface="Calibri" pitchFamily="34" charset="0"/>
                <a:ea typeface="Calibri" pitchFamily="34" charset="-122"/>
                <a:cs typeface="Calibri" pitchFamily="34" charset="-120"/>
              </a:rPr>
              <a:t>PAPERS</a:t>
            </a:r>
            <a:endParaRPr lang="en-US" sz="1100" dirty="0"/>
          </a:p>
        </p:txBody>
      </p:sp>
      <p:sp>
        <p:nvSpPr>
          <p:cNvPr id="6" name="Text 4"/>
          <p:cNvSpPr txBox="1"/>
          <p:nvPr/>
        </p:nvSpPr>
        <p:spPr>
          <a:xfrm>
            <a:off x="685800" y="2423160"/>
            <a:ext cx="2194560" cy="1005840"/>
          </a:xfrm>
          <a:prstGeom prst="rect">
            <a:avLst/>
          </a:prstGeom>
          <a:noFill/>
          <a:ln/>
        </p:spPr>
        <p:txBody>
          <a:bodyPr wrap="square" lIns="0" tIns="0" rIns="0" bIns="0" rtlCol="0" anchor="t"/>
          <a:lstStyle/>
          <a:p>
            <a:pPr indent="0" marL="0">
              <a:buNone/>
            </a:pPr>
            <a:r>
              <a:rPr lang="en-US" sz="1200" dirty="0">
                <a:solidFill>
                  <a:srgbClr val="1B1F27"/>
                </a:solidFill>
                <a:latin typeface="Calibri" pitchFamily="34" charset="0"/>
                <a:ea typeface="Calibri" pitchFamily="34" charset="-122"/>
                <a:cs typeface="Calibri" pitchFamily="34" charset="-120"/>
              </a:rPr>
              <a:t>Each one checked by title, authors and venue. Every link opens the paper itself.</a:t>
            </a:r>
            <a:endParaRPr lang="en-US" sz="1200" dirty="0"/>
          </a:p>
        </p:txBody>
      </p:sp>
      <p:sp>
        <p:nvSpPr>
          <p:cNvPr id="7" name="Shape 5"/>
          <p:cNvSpPr/>
          <p:nvPr/>
        </p:nvSpPr>
        <p:spPr>
          <a:xfrm>
            <a:off x="3264408" y="1143000"/>
            <a:ext cx="2606040" cy="2377440"/>
          </a:xfrm>
          <a:prstGeom prst="roundRect">
            <a:avLst>
              <a:gd name="adj" fmla="val 3077"/>
            </a:avLst>
          </a:prstGeom>
          <a:solidFill>
            <a:srgbClr val="EEF1F6"/>
          </a:solidFill>
          <a:ln w="12700">
            <a:solidFill>
              <a:srgbClr val="EEF1F6"/>
            </a:solidFill>
            <a:prstDash val="solid"/>
          </a:ln>
        </p:spPr>
      </p:sp>
      <p:sp>
        <p:nvSpPr>
          <p:cNvPr id="8" name="Text 6"/>
          <p:cNvSpPr txBox="1"/>
          <p:nvPr/>
        </p:nvSpPr>
        <p:spPr>
          <a:xfrm>
            <a:off x="3493008" y="1325880"/>
            <a:ext cx="2194560" cy="731520"/>
          </a:xfrm>
          <a:prstGeom prst="rect">
            <a:avLst/>
          </a:prstGeom>
          <a:noFill/>
          <a:ln/>
        </p:spPr>
        <p:txBody>
          <a:bodyPr wrap="square" lIns="0" tIns="0" rIns="0" bIns="0" rtlCol="0" anchor="t"/>
          <a:lstStyle/>
          <a:p>
            <a:pPr indent="0" marL="0">
              <a:buNone/>
            </a:pPr>
            <a:r>
              <a:rPr lang="en-US" sz="4400" b="1" dirty="0">
                <a:solidFill>
                  <a:srgbClr val="14213D"/>
                </a:solidFill>
                <a:latin typeface="Cambria" pitchFamily="34" charset="0"/>
                <a:ea typeface="Cambria" pitchFamily="34" charset="-122"/>
                <a:cs typeface="Cambria" pitchFamily="34" charset="-120"/>
              </a:rPr>
              <a:t>30</a:t>
            </a:r>
            <a:endParaRPr lang="en-US" sz="4400" dirty="0"/>
          </a:p>
        </p:txBody>
      </p:sp>
      <p:sp>
        <p:nvSpPr>
          <p:cNvPr id="9" name="Text 7"/>
          <p:cNvSpPr txBox="1"/>
          <p:nvPr/>
        </p:nvSpPr>
        <p:spPr>
          <a:xfrm>
            <a:off x="3493008" y="2057400"/>
            <a:ext cx="2194560" cy="274320"/>
          </a:xfrm>
          <a:prstGeom prst="rect">
            <a:avLst/>
          </a:prstGeom>
          <a:noFill/>
          <a:ln/>
        </p:spPr>
        <p:txBody>
          <a:bodyPr wrap="square" lIns="0" tIns="0" rIns="0" bIns="0" rtlCol="0" anchor="t"/>
          <a:lstStyle/>
          <a:p>
            <a:pPr indent="0" marL="0">
              <a:buNone/>
            </a:pPr>
            <a:r>
              <a:rPr lang="en-US" sz="1100" b="1" spc="200" kern="0" dirty="0">
                <a:solidFill>
                  <a:srgbClr val="B7791F"/>
                </a:solidFill>
                <a:latin typeface="Calibri" pitchFamily="34" charset="0"/>
                <a:ea typeface="Calibri" pitchFamily="34" charset="-122"/>
                <a:cs typeface="Calibri" pitchFamily="34" charset="-120"/>
              </a:rPr>
              <a:t>FEATURES</a:t>
            </a:r>
            <a:endParaRPr lang="en-US" sz="1100" dirty="0"/>
          </a:p>
        </p:txBody>
      </p:sp>
      <p:sp>
        <p:nvSpPr>
          <p:cNvPr id="10" name="Text 8"/>
          <p:cNvSpPr txBox="1"/>
          <p:nvPr/>
        </p:nvSpPr>
        <p:spPr>
          <a:xfrm>
            <a:off x="3493008" y="2423160"/>
            <a:ext cx="2194560" cy="1005840"/>
          </a:xfrm>
          <a:prstGeom prst="rect">
            <a:avLst/>
          </a:prstGeom>
          <a:noFill/>
          <a:ln/>
        </p:spPr>
        <p:txBody>
          <a:bodyPr wrap="square" lIns="0" tIns="0" rIns="0" bIns="0" rtlCol="0" anchor="t"/>
          <a:lstStyle/>
          <a:p>
            <a:pPr indent="0" marL="0">
              <a:buNone/>
            </a:pPr>
            <a:r>
              <a:rPr lang="en-US" sz="1200" dirty="0">
                <a:solidFill>
                  <a:srgbClr val="1B1F27"/>
                </a:solidFill>
                <a:latin typeface="Calibri" pitchFamily="34" charset="0"/>
                <a:ea typeface="Calibri" pitchFamily="34" charset="-122"/>
                <a:cs typeface="Calibri" pitchFamily="34" charset="-120"/>
              </a:rPr>
              <a:t>None repeats something SONIX already has or has already planned.</a:t>
            </a:r>
            <a:endParaRPr lang="en-US" sz="1200" dirty="0"/>
          </a:p>
        </p:txBody>
      </p:sp>
      <p:sp>
        <p:nvSpPr>
          <p:cNvPr id="11" name="Shape 9"/>
          <p:cNvSpPr/>
          <p:nvPr/>
        </p:nvSpPr>
        <p:spPr>
          <a:xfrm>
            <a:off x="6071616" y="1143000"/>
            <a:ext cx="2606040" cy="2377440"/>
          </a:xfrm>
          <a:prstGeom prst="roundRect">
            <a:avLst>
              <a:gd name="adj" fmla="val 3077"/>
            </a:avLst>
          </a:prstGeom>
          <a:solidFill>
            <a:srgbClr val="EEF1F6"/>
          </a:solidFill>
          <a:ln w="12700">
            <a:solidFill>
              <a:srgbClr val="EEF1F6"/>
            </a:solidFill>
            <a:prstDash val="solid"/>
          </a:ln>
        </p:spPr>
      </p:sp>
      <p:sp>
        <p:nvSpPr>
          <p:cNvPr id="12" name="Text 10"/>
          <p:cNvSpPr txBox="1"/>
          <p:nvPr/>
        </p:nvSpPr>
        <p:spPr>
          <a:xfrm>
            <a:off x="6300216" y="1325880"/>
            <a:ext cx="2194560" cy="731520"/>
          </a:xfrm>
          <a:prstGeom prst="rect">
            <a:avLst/>
          </a:prstGeom>
          <a:noFill/>
          <a:ln/>
        </p:spPr>
        <p:txBody>
          <a:bodyPr wrap="square" lIns="0" tIns="0" rIns="0" bIns="0" rtlCol="0" anchor="t"/>
          <a:lstStyle/>
          <a:p>
            <a:pPr indent="0" marL="0">
              <a:buNone/>
            </a:pPr>
            <a:r>
              <a:rPr lang="en-US" sz="4400" b="1" dirty="0">
                <a:solidFill>
                  <a:srgbClr val="14213D"/>
                </a:solidFill>
                <a:latin typeface="Cambria" pitchFamily="34" charset="0"/>
                <a:ea typeface="Cambria" pitchFamily="34" charset="-122"/>
                <a:cs typeface="Cambria" pitchFamily="34" charset="-120"/>
              </a:rPr>
              <a:t>6 × 5</a:t>
            </a:r>
            <a:endParaRPr lang="en-US" sz="4400" dirty="0"/>
          </a:p>
        </p:txBody>
      </p:sp>
      <p:sp>
        <p:nvSpPr>
          <p:cNvPr id="13" name="Text 11"/>
          <p:cNvSpPr txBox="1"/>
          <p:nvPr/>
        </p:nvSpPr>
        <p:spPr>
          <a:xfrm>
            <a:off x="6300216" y="2057400"/>
            <a:ext cx="2194560" cy="274320"/>
          </a:xfrm>
          <a:prstGeom prst="rect">
            <a:avLst/>
          </a:prstGeom>
          <a:noFill/>
          <a:ln/>
        </p:spPr>
        <p:txBody>
          <a:bodyPr wrap="square" lIns="0" tIns="0" rIns="0" bIns="0" rtlCol="0" anchor="t"/>
          <a:lstStyle/>
          <a:p>
            <a:pPr indent="0" marL="0">
              <a:buNone/>
            </a:pPr>
            <a:r>
              <a:rPr lang="en-US" sz="1100" b="1" spc="200" kern="0" dirty="0">
                <a:solidFill>
                  <a:srgbClr val="B7791F"/>
                </a:solidFill>
                <a:latin typeface="Calibri" pitchFamily="34" charset="0"/>
                <a:ea typeface="Calibri" pitchFamily="34" charset="-122"/>
                <a:cs typeface="Calibri" pitchFamily="34" charset="-120"/>
              </a:rPr>
              <a:t>OWNERS</a:t>
            </a:r>
            <a:endParaRPr lang="en-US" sz="1100" dirty="0"/>
          </a:p>
        </p:txBody>
      </p:sp>
      <p:sp>
        <p:nvSpPr>
          <p:cNvPr id="14" name="Text 12"/>
          <p:cNvSpPr txBox="1"/>
          <p:nvPr/>
        </p:nvSpPr>
        <p:spPr>
          <a:xfrm>
            <a:off x="6300216" y="2423160"/>
            <a:ext cx="2194560" cy="1005840"/>
          </a:xfrm>
          <a:prstGeom prst="rect">
            <a:avLst/>
          </a:prstGeom>
          <a:noFill/>
          <a:ln/>
        </p:spPr>
        <p:txBody>
          <a:bodyPr wrap="square" lIns="0" tIns="0" rIns="0" bIns="0" rtlCol="0" anchor="t"/>
          <a:lstStyle/>
          <a:p>
            <a:pPr indent="0" marL="0">
              <a:buNone/>
            </a:pPr>
            <a:r>
              <a:rPr lang="en-US" sz="1200" dirty="0">
                <a:solidFill>
                  <a:srgbClr val="1B1F27"/>
                </a:solidFill>
                <a:latin typeface="Calibri" pitchFamily="34" charset="0"/>
                <a:ea typeface="Calibri" pitchFamily="34" charset="-122"/>
                <a:cs typeface="Calibri" pitchFamily="34" charset="-120"/>
              </a:rPr>
              <a:t>Each feature sits in its proposer's own lane, so the person proposing it would also build it.</a:t>
            </a:r>
            <a:endParaRPr lang="en-US" sz="1200" dirty="0"/>
          </a:p>
        </p:txBody>
      </p:sp>
      <p:sp>
        <p:nvSpPr>
          <p:cNvPr id="15" name="Text 13"/>
          <p:cNvSpPr txBox="1"/>
          <p:nvPr/>
        </p:nvSpPr>
        <p:spPr>
          <a:xfrm>
            <a:off x="457200" y="3840480"/>
            <a:ext cx="8229600" cy="731520"/>
          </a:xfrm>
          <a:prstGeom prst="rect">
            <a:avLst/>
          </a:prstGeom>
          <a:noFill/>
          <a:ln/>
        </p:spPr>
        <p:txBody>
          <a:bodyPr wrap="square" lIns="0" tIns="0" rIns="0" bIns="0" rtlCol="0" anchor="t"/>
          <a:lstStyle/>
          <a:p>
            <a:pPr indent="0" marL="0">
              <a:buNone/>
            </a:pPr>
            <a:r>
              <a:rPr lang="en-US" sz="1200" dirty="0">
                <a:solidFill>
                  <a:srgbClr val="5B6474"/>
                </a:solidFill>
                <a:latin typeface="Calibri" pitchFamily="34" charset="0"/>
                <a:ea typeface="Calibri" pitchFamily="34" charset="-122"/>
                <a:cs typeface="Calibri" pitchFamily="34" charset="-120"/>
              </a:rPr>
              <a:t>Every feature slide has the problem it fixes in SONIX, what we would build, and two papers. The likely mentor question and our answer are in the speaker notes. Papers marked "preprint" are not yet peer reviewed.</a:t>
            </a:r>
            <a:endParaRPr lang="en-US" sz="1200" dirty="0"/>
          </a:p>
        </p:txBody>
      </p:sp>
      <p:sp>
        <p:nvSpPr>
          <p:cNvPr id="16" name="Text 14"/>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3000" b="1" dirty="0">
                <a:solidFill>
                  <a:srgbClr val="14213D"/>
                </a:solidFill>
                <a:latin typeface="Cambria" pitchFamily="34" charset="0"/>
                <a:ea typeface="Cambria" pitchFamily="34" charset="-122"/>
                <a:cs typeface="Cambria" pitchFamily="34" charset="-120"/>
              </a:rPr>
              <a:t>Deliberately not proposed</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indent="0" marL="0">
              <a:buNone/>
            </a:pPr>
            <a:r>
              <a:rPr lang="en-US" sz="1300" dirty="0">
                <a:solidFill>
                  <a:srgbClr val="5B6474"/>
                </a:solidFill>
                <a:latin typeface="Calibri" pitchFamily="34" charset="0"/>
                <a:ea typeface="Calibri" pitchFamily="34" charset="-122"/>
                <a:cs typeface="Calibri" pitchFamily="34" charset="-120"/>
              </a:rPr>
              <a:t>We left these out because SONIX already has them or they are already planned</a:t>
            </a:r>
            <a:endParaRPr lang="en-US" sz="1300" dirty="0"/>
          </a:p>
        </p:txBody>
      </p:sp>
      <p:sp>
        <p:nvSpPr>
          <p:cNvPr id="4" name="Shape 2"/>
          <p:cNvSpPr/>
          <p:nvPr/>
        </p:nvSpPr>
        <p:spPr>
          <a:xfrm>
            <a:off x="457200" y="1371600"/>
            <a:ext cx="4023360" cy="3291840"/>
          </a:xfrm>
          <a:prstGeom prst="roundRect">
            <a:avLst>
              <a:gd name="adj" fmla="val 2222"/>
            </a:avLst>
          </a:prstGeom>
          <a:solidFill>
            <a:srgbClr val="EEF1F6"/>
          </a:solidFill>
          <a:ln w="12700">
            <a:solidFill>
              <a:srgbClr val="EEF1F6"/>
            </a:solidFill>
            <a:prstDash val="solid"/>
          </a:ln>
        </p:spPr>
      </p:sp>
      <p:sp>
        <p:nvSpPr>
          <p:cNvPr id="5" name="Shape 3"/>
          <p:cNvSpPr/>
          <p:nvPr/>
        </p:nvSpPr>
        <p:spPr>
          <a:xfrm>
            <a:off x="685800" y="1572768"/>
            <a:ext cx="201168" cy="201168"/>
          </a:xfrm>
          <a:prstGeom prst="ellipse">
            <a:avLst/>
          </a:prstGeom>
          <a:solidFill>
            <a:srgbClr val="2E9E5B"/>
          </a:solidFill>
          <a:ln w="12700">
            <a:solidFill>
              <a:srgbClr val="2E9E5B"/>
            </a:solidFill>
            <a:prstDash val="solid"/>
          </a:ln>
        </p:spPr>
      </p:sp>
      <p:sp>
        <p:nvSpPr>
          <p:cNvPr id="6" name="Text 4"/>
          <p:cNvSpPr txBox="1"/>
          <p:nvPr/>
        </p:nvSpPr>
        <p:spPr>
          <a:xfrm>
            <a:off x="1005840" y="1517904"/>
            <a:ext cx="3291840" cy="32004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Already built</a:t>
            </a:r>
            <a:endParaRPr lang="en-US" sz="1600" dirty="0"/>
          </a:p>
        </p:txBody>
      </p:sp>
      <p:sp>
        <p:nvSpPr>
          <p:cNvPr id="7" name="Text 5"/>
          <p:cNvSpPr txBox="1"/>
          <p:nvPr/>
        </p:nvSpPr>
        <p:spPr>
          <a:xfrm>
            <a:off x="685800" y="1965960"/>
            <a:ext cx="3611880" cy="25603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AI-voice detection: frozen XLS-R + MLP head</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4 s windows, 0.5 s hop, smoothing + hysteresis</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Green / Amber / Red risk band</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Live server: WebRTC, Asterisk VoIP, upload</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Consent pairing gate + audit trail</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VAD silence gate</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Chrome extension for Google Meet</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G.711 codec test</a:t>
            </a:r>
            <a:endParaRPr lang="en-US" sz="1200" dirty="0"/>
          </a:p>
        </p:txBody>
      </p:sp>
      <p:sp>
        <p:nvSpPr>
          <p:cNvPr id="8" name="Shape 6"/>
          <p:cNvSpPr/>
          <p:nvPr/>
        </p:nvSpPr>
        <p:spPr>
          <a:xfrm>
            <a:off x="4663440" y="1371600"/>
            <a:ext cx="4023360" cy="3291840"/>
          </a:xfrm>
          <a:prstGeom prst="roundRect">
            <a:avLst>
              <a:gd name="adj" fmla="val 2222"/>
            </a:avLst>
          </a:prstGeom>
          <a:solidFill>
            <a:srgbClr val="EEF1F6"/>
          </a:solidFill>
          <a:ln w="12700">
            <a:solidFill>
              <a:srgbClr val="EEF1F6"/>
            </a:solidFill>
            <a:prstDash val="solid"/>
          </a:ln>
        </p:spPr>
      </p:sp>
      <p:sp>
        <p:nvSpPr>
          <p:cNvPr id="9" name="Shape 7"/>
          <p:cNvSpPr/>
          <p:nvPr/>
        </p:nvSpPr>
        <p:spPr>
          <a:xfrm>
            <a:off x="4892040" y="1572768"/>
            <a:ext cx="201168" cy="201168"/>
          </a:xfrm>
          <a:prstGeom prst="ellipse">
            <a:avLst/>
          </a:prstGeom>
          <a:solidFill>
            <a:srgbClr val="FCA311"/>
          </a:solidFill>
          <a:ln w="12700">
            <a:solidFill>
              <a:srgbClr val="FCA311"/>
            </a:solidFill>
            <a:prstDash val="solid"/>
          </a:ln>
        </p:spPr>
      </p:sp>
      <p:sp>
        <p:nvSpPr>
          <p:cNvPr id="10" name="Text 8"/>
          <p:cNvSpPr txBox="1"/>
          <p:nvPr/>
        </p:nvSpPr>
        <p:spPr>
          <a:xfrm>
            <a:off x="5212080" y="1517904"/>
            <a:ext cx="3291840" cy="32004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Already planned</a:t>
            </a:r>
            <a:endParaRPr lang="en-US" sz="1600" dirty="0"/>
          </a:p>
        </p:txBody>
      </p:sp>
      <p:sp>
        <p:nvSpPr>
          <p:cNvPr id="11" name="Text 9"/>
          <p:cNvSpPr txBox="1"/>
          <p:nvPr/>
        </p:nvSpPr>
        <p:spPr>
          <a:xfrm>
            <a:off x="4892040" y="1965960"/>
            <a:ext cx="3611880" cy="25603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AASIST and RawNet2 baselines</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OC-Softmax one-class loss</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RawBoost augmentation</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Opus / AMR codecs</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Temperature-scaling calibration</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v4 multi-layer mean+std embeddings</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Generator-family (source tracing) head</a:t>
            </a:r>
            <a:endParaRPr lang="en-US" sz="1200" dirty="0"/>
          </a:p>
          <a:p>
            <a:pPr marL="342900" indent="-342900">
              <a:spcAft>
                <a:spcPts val="400"/>
              </a:spcAft>
              <a:buSzPct val="100000"/>
              <a:buChar char="•"/>
            </a:pPr>
            <a:r>
              <a:rPr lang="en-US" sz="1200" dirty="0">
                <a:solidFill>
                  <a:srgbClr val="1B1F27"/>
                </a:solidFill>
                <a:latin typeface="Calibri" pitchFamily="34" charset="0"/>
                <a:ea typeface="Calibri" pitchFamily="34" charset="-122"/>
                <a:cs typeface="Calibri" pitchFamily="34" charset="-120"/>
              </a:rPr>
              <a:t>DANN language adversary</a:t>
            </a:r>
            <a:endParaRPr lang="en-US" sz="1200" dirty="0"/>
          </a:p>
        </p:txBody>
      </p:sp>
      <p:sp>
        <p:nvSpPr>
          <p:cNvPr id="12" name="Text 10"/>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30 features at a glance</a:t>
            </a:r>
            <a:endParaRPr lang="en-US" sz="2800" dirty="0"/>
          </a:p>
        </p:txBody>
      </p:sp>
      <p:sp>
        <p:nvSpPr>
          <p:cNvPr id="3" name="Shape 1"/>
          <p:cNvSpPr/>
          <p:nvPr/>
        </p:nvSpPr>
        <p:spPr>
          <a:xfrm>
            <a:off x="457200" y="914400"/>
            <a:ext cx="2651760" cy="1874520"/>
          </a:xfrm>
          <a:prstGeom prst="roundRect">
            <a:avLst>
              <a:gd name="adj" fmla="val 2927"/>
            </a:avLst>
          </a:prstGeom>
          <a:solidFill>
            <a:srgbClr val="EEF1F6"/>
          </a:solidFill>
          <a:ln w="12700">
            <a:solidFill>
              <a:srgbClr val="EEF1F6"/>
            </a:solidFill>
            <a:prstDash val="solid"/>
          </a:ln>
        </p:spPr>
      </p:sp>
      <p:sp>
        <p:nvSpPr>
          <p:cNvPr id="4" name="Text 2"/>
          <p:cNvSpPr txBox="1"/>
          <p:nvPr/>
        </p:nvSpPr>
        <p:spPr>
          <a:xfrm>
            <a:off x="594360" y="1005840"/>
            <a:ext cx="2377440" cy="256032"/>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Yugal</a:t>
            </a:r>
            <a:endParaRPr lang="en-US" sz="1300" dirty="0"/>
          </a:p>
        </p:txBody>
      </p:sp>
      <p:sp>
        <p:nvSpPr>
          <p:cNvPr id="5" name="Text 3"/>
          <p:cNvSpPr txBox="1"/>
          <p:nvPr/>
        </p:nvSpPr>
        <p:spPr>
          <a:xfrm>
            <a:off x="594360" y="1261872"/>
            <a:ext cx="2377440" cy="201168"/>
          </a:xfrm>
          <a:prstGeom prst="rect">
            <a:avLst/>
          </a:prstGeom>
          <a:noFill/>
          <a:ln/>
        </p:spPr>
        <p:txBody>
          <a:bodyPr wrap="square" lIns="0" tIns="0" rIns="0" bIns="0" rtlCol="0" anchor="t"/>
          <a:lstStyle/>
          <a:p>
            <a:pPr indent="0" marL="0">
              <a:buNone/>
            </a:pPr>
            <a:r>
              <a:rPr lang="en-US" sz="900" b="1" dirty="0">
                <a:solidFill>
                  <a:srgbClr val="B7791F"/>
                </a:solidFill>
                <a:latin typeface="Calibri" pitchFamily="34" charset="0"/>
                <a:ea typeface="Calibri" pitchFamily="34" charset="-122"/>
                <a:cs typeface="Calibri" pitchFamily="34" charset="-120"/>
              </a:rPr>
              <a:t>Model &amp; ML core</a:t>
            </a:r>
            <a:endParaRPr lang="en-US" sz="900" dirty="0"/>
          </a:p>
        </p:txBody>
      </p:sp>
      <p:sp>
        <p:nvSpPr>
          <p:cNvPr id="6" name="Text 4"/>
          <p:cNvSpPr txBox="1"/>
          <p:nvPr/>
        </p:nvSpPr>
        <p:spPr>
          <a:xfrm>
            <a:off x="594360" y="1536192"/>
            <a:ext cx="2423160" cy="1188720"/>
          </a:xfrm>
          <a:prstGeom prst="rect">
            <a:avLst/>
          </a:prstGeom>
          <a:noFill/>
          <a:ln/>
        </p:spPr>
        <p:txBody>
          <a:bodyPr wrap="square" lIns="0" tIns="0" rIns="0" bIns="0" rtlCol="0" anchor="t"/>
          <a:lstStyle/>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 Partial-fake localisation</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 Continual learning for new attacks</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3. LoRA adaptation of the frozen front-end</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4. Mixture-of-experts layer fusion</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5. On-device lightweight detector</a:t>
            </a:r>
            <a:endParaRPr lang="en-US" sz="950" dirty="0"/>
          </a:p>
        </p:txBody>
      </p:sp>
      <p:sp>
        <p:nvSpPr>
          <p:cNvPr id="7" name="Shape 5"/>
          <p:cNvSpPr/>
          <p:nvPr/>
        </p:nvSpPr>
        <p:spPr>
          <a:xfrm>
            <a:off x="3246120" y="914400"/>
            <a:ext cx="2651760" cy="1874520"/>
          </a:xfrm>
          <a:prstGeom prst="roundRect">
            <a:avLst>
              <a:gd name="adj" fmla="val 2927"/>
            </a:avLst>
          </a:prstGeom>
          <a:solidFill>
            <a:srgbClr val="EEF1F6"/>
          </a:solidFill>
          <a:ln w="12700">
            <a:solidFill>
              <a:srgbClr val="EEF1F6"/>
            </a:solidFill>
            <a:prstDash val="solid"/>
          </a:ln>
        </p:spPr>
      </p:sp>
      <p:sp>
        <p:nvSpPr>
          <p:cNvPr id="8" name="Text 6"/>
          <p:cNvSpPr txBox="1"/>
          <p:nvPr/>
        </p:nvSpPr>
        <p:spPr>
          <a:xfrm>
            <a:off x="3383280" y="1005840"/>
            <a:ext cx="2377440" cy="256032"/>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Anubhav</a:t>
            </a:r>
            <a:endParaRPr lang="en-US" sz="1300" dirty="0"/>
          </a:p>
        </p:txBody>
      </p:sp>
      <p:sp>
        <p:nvSpPr>
          <p:cNvPr id="9" name="Text 7"/>
          <p:cNvSpPr txBox="1"/>
          <p:nvPr/>
        </p:nvSpPr>
        <p:spPr>
          <a:xfrm>
            <a:off x="3383280" y="1261872"/>
            <a:ext cx="2377440" cy="201168"/>
          </a:xfrm>
          <a:prstGeom prst="rect">
            <a:avLst/>
          </a:prstGeom>
          <a:noFill/>
          <a:ln/>
        </p:spPr>
        <p:txBody>
          <a:bodyPr wrap="square" lIns="0" tIns="0" rIns="0" bIns="0" rtlCol="0" anchor="t"/>
          <a:lstStyle/>
          <a:p>
            <a:pPr indent="0" marL="0">
              <a:buNone/>
            </a:pPr>
            <a:r>
              <a:rPr lang="en-US" sz="900" b="1" dirty="0">
                <a:solidFill>
                  <a:srgbClr val="B7791F"/>
                </a:solidFill>
                <a:latin typeface="Calibri" pitchFamily="34" charset="0"/>
                <a:ea typeface="Calibri" pitchFamily="34" charset="-122"/>
                <a:cs typeface="Calibri" pitchFamily="34" charset="-120"/>
              </a:rPr>
              <a:t>Robustness &amp; telephony</a:t>
            </a:r>
            <a:endParaRPr lang="en-US" sz="900" dirty="0"/>
          </a:p>
        </p:txBody>
      </p:sp>
      <p:sp>
        <p:nvSpPr>
          <p:cNvPr id="10" name="Text 8"/>
          <p:cNvSpPr txBox="1"/>
          <p:nvPr/>
        </p:nvSpPr>
        <p:spPr>
          <a:xfrm>
            <a:off x="3383280" y="1536192"/>
            <a:ext cx="2423160" cy="1188720"/>
          </a:xfrm>
          <a:prstGeom prst="rect">
            <a:avLst/>
          </a:prstGeom>
          <a:noFill/>
          <a:ln/>
        </p:spPr>
        <p:txBody>
          <a:bodyPr wrap="square" lIns="0" tIns="0" rIns="0" bIns="0" rtlCol="0" anchor="t"/>
          <a:lstStyle/>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6. Codec-LM (neural codec) TTS detection</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7. Replay (over-the-air) robustness</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8. Laundering stress test + augmentation</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9. Adversarial-attack defence</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10. Real-call platform robustness (Meet / Zoom / WhatsApp)</a:t>
            </a:r>
            <a:endParaRPr lang="en-US" sz="950" dirty="0"/>
          </a:p>
        </p:txBody>
      </p:sp>
      <p:sp>
        <p:nvSpPr>
          <p:cNvPr id="11" name="Shape 9"/>
          <p:cNvSpPr/>
          <p:nvPr/>
        </p:nvSpPr>
        <p:spPr>
          <a:xfrm>
            <a:off x="6035040" y="914400"/>
            <a:ext cx="2651760" cy="1874520"/>
          </a:xfrm>
          <a:prstGeom prst="roundRect">
            <a:avLst>
              <a:gd name="adj" fmla="val 2927"/>
            </a:avLst>
          </a:prstGeom>
          <a:solidFill>
            <a:srgbClr val="EEF1F6"/>
          </a:solidFill>
          <a:ln w="12700">
            <a:solidFill>
              <a:srgbClr val="EEF1F6"/>
            </a:solidFill>
            <a:prstDash val="solid"/>
          </a:ln>
        </p:spPr>
      </p:sp>
      <p:sp>
        <p:nvSpPr>
          <p:cNvPr id="12" name="Text 10"/>
          <p:cNvSpPr txBox="1"/>
          <p:nvPr/>
        </p:nvSpPr>
        <p:spPr>
          <a:xfrm>
            <a:off x="6172200" y="1005840"/>
            <a:ext cx="2377440" cy="256032"/>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Suryansh</a:t>
            </a:r>
            <a:endParaRPr lang="en-US" sz="1300" dirty="0"/>
          </a:p>
        </p:txBody>
      </p:sp>
      <p:sp>
        <p:nvSpPr>
          <p:cNvPr id="13" name="Text 11"/>
          <p:cNvSpPr txBox="1"/>
          <p:nvPr/>
        </p:nvSpPr>
        <p:spPr>
          <a:xfrm>
            <a:off x="6172200" y="1261872"/>
            <a:ext cx="2377440" cy="201168"/>
          </a:xfrm>
          <a:prstGeom prst="rect">
            <a:avLst/>
          </a:prstGeom>
          <a:noFill/>
          <a:ln/>
        </p:spPr>
        <p:txBody>
          <a:bodyPr wrap="square" lIns="0" tIns="0" rIns="0" bIns="0" rtlCol="0" anchor="t"/>
          <a:lstStyle/>
          <a:p>
            <a:pPr indent="0" marL="0">
              <a:buNone/>
            </a:pPr>
            <a:r>
              <a:rPr lang="en-US" sz="900" b="1" dirty="0">
                <a:solidFill>
                  <a:srgbClr val="B7791F"/>
                </a:solidFill>
                <a:latin typeface="Calibri" pitchFamily="34" charset="0"/>
                <a:ea typeface="Calibri" pitchFamily="34" charset="-122"/>
                <a:cs typeface="Calibri" pitchFamily="34" charset="-120"/>
              </a:rPr>
              <a:t>Real-time product &amp; UX</a:t>
            </a:r>
            <a:endParaRPr lang="en-US" sz="900" dirty="0"/>
          </a:p>
        </p:txBody>
      </p:sp>
      <p:sp>
        <p:nvSpPr>
          <p:cNvPr id="14" name="Text 12"/>
          <p:cNvSpPr txBox="1"/>
          <p:nvPr/>
        </p:nvSpPr>
        <p:spPr>
          <a:xfrm>
            <a:off x="6172200" y="1536192"/>
            <a:ext cx="2423160" cy="1188720"/>
          </a:xfrm>
          <a:prstGeom prst="rect">
            <a:avLst/>
          </a:prstGeom>
          <a:noFill/>
          <a:ln/>
        </p:spPr>
        <p:txBody>
          <a:bodyPr wrap="square" lIns="0" tIns="0" rIns="0" bIns="0" rtlCol="0" anchor="t"/>
          <a:lstStyle/>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11. Challenge-response liveness prompt</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12. Scam-intent detection (what is said)</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13. Per-speaker attribution in group calls</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14. Faster first verdict</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15. Audio-visual check for video calls</a:t>
            </a:r>
            <a:endParaRPr lang="en-US" sz="950" dirty="0"/>
          </a:p>
        </p:txBody>
      </p:sp>
      <p:sp>
        <p:nvSpPr>
          <p:cNvPr id="15" name="Shape 13"/>
          <p:cNvSpPr/>
          <p:nvPr/>
        </p:nvSpPr>
        <p:spPr>
          <a:xfrm>
            <a:off x="457200" y="2926080"/>
            <a:ext cx="2651760" cy="1874520"/>
          </a:xfrm>
          <a:prstGeom prst="roundRect">
            <a:avLst>
              <a:gd name="adj" fmla="val 2927"/>
            </a:avLst>
          </a:prstGeom>
          <a:solidFill>
            <a:srgbClr val="EEF1F6"/>
          </a:solidFill>
          <a:ln w="12700">
            <a:solidFill>
              <a:srgbClr val="EEF1F6"/>
            </a:solidFill>
            <a:prstDash val="solid"/>
          </a:ln>
        </p:spPr>
      </p:sp>
      <p:sp>
        <p:nvSpPr>
          <p:cNvPr id="16" name="Text 14"/>
          <p:cNvSpPr txBox="1"/>
          <p:nvPr/>
        </p:nvSpPr>
        <p:spPr>
          <a:xfrm>
            <a:off x="594360" y="3017520"/>
            <a:ext cx="2377440" cy="256032"/>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Navya</a:t>
            </a:r>
            <a:endParaRPr lang="en-US" sz="1300" dirty="0"/>
          </a:p>
        </p:txBody>
      </p:sp>
      <p:sp>
        <p:nvSpPr>
          <p:cNvPr id="17" name="Text 15"/>
          <p:cNvSpPr txBox="1"/>
          <p:nvPr/>
        </p:nvSpPr>
        <p:spPr>
          <a:xfrm>
            <a:off x="594360" y="3273552"/>
            <a:ext cx="2377440" cy="201168"/>
          </a:xfrm>
          <a:prstGeom prst="rect">
            <a:avLst/>
          </a:prstGeom>
          <a:noFill/>
          <a:ln/>
        </p:spPr>
        <p:txBody>
          <a:bodyPr wrap="square" lIns="0" tIns="0" rIns="0" bIns="0" rtlCol="0" anchor="t"/>
          <a:lstStyle/>
          <a:p>
            <a:pPr indent="0" marL="0">
              <a:buNone/>
            </a:pPr>
            <a:r>
              <a:rPr lang="en-US" sz="900" b="1" dirty="0">
                <a:solidFill>
                  <a:srgbClr val="B7791F"/>
                </a:solidFill>
                <a:latin typeface="Calibri" pitchFamily="34" charset="0"/>
                <a:ea typeface="Calibri" pitchFamily="34" charset="-122"/>
                <a:cs typeface="Calibri" pitchFamily="34" charset="-120"/>
              </a:rPr>
              <a:t>Data, Indic languages &amp; generalisation</a:t>
            </a:r>
            <a:endParaRPr lang="en-US" sz="900" dirty="0"/>
          </a:p>
        </p:txBody>
      </p:sp>
      <p:sp>
        <p:nvSpPr>
          <p:cNvPr id="18" name="Text 16"/>
          <p:cNvSpPr txBox="1"/>
          <p:nvPr/>
        </p:nvSpPr>
        <p:spPr>
          <a:xfrm>
            <a:off x="594360" y="3547872"/>
            <a:ext cx="2423160" cy="1188720"/>
          </a:xfrm>
          <a:prstGeom prst="rect">
            <a:avLst/>
          </a:prstGeom>
          <a:noFill/>
          <a:ln/>
        </p:spPr>
        <p:txBody>
          <a:bodyPr wrap="square" lIns="0" tIns="0" rIns="0" bIns="0" rtlCol="0" anchor="t"/>
          <a:lstStyle/>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16. Code-switching (Hinglish) robustness</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17. Vocoded Indic spoofs from real Indic speech</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18. Unsupervised / test-time domain adaptation</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19. Few-shot adaptation to a new cloning tool</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20. Emotion &amp; prosody cues</a:t>
            </a:r>
            <a:endParaRPr lang="en-US" sz="950" dirty="0"/>
          </a:p>
        </p:txBody>
      </p:sp>
      <p:sp>
        <p:nvSpPr>
          <p:cNvPr id="19" name="Shape 17"/>
          <p:cNvSpPr/>
          <p:nvPr/>
        </p:nvSpPr>
        <p:spPr>
          <a:xfrm>
            <a:off x="3246120" y="2926080"/>
            <a:ext cx="2651760" cy="1874520"/>
          </a:xfrm>
          <a:prstGeom prst="roundRect">
            <a:avLst>
              <a:gd name="adj" fmla="val 2927"/>
            </a:avLst>
          </a:prstGeom>
          <a:solidFill>
            <a:srgbClr val="EEF1F6"/>
          </a:solidFill>
          <a:ln w="12700">
            <a:solidFill>
              <a:srgbClr val="EEF1F6"/>
            </a:solidFill>
            <a:prstDash val="solid"/>
          </a:ln>
        </p:spPr>
      </p:sp>
      <p:sp>
        <p:nvSpPr>
          <p:cNvPr id="20" name="Text 18"/>
          <p:cNvSpPr txBox="1"/>
          <p:nvPr/>
        </p:nvSpPr>
        <p:spPr>
          <a:xfrm>
            <a:off x="3383280" y="3017520"/>
            <a:ext cx="2377440" cy="256032"/>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Akshat</a:t>
            </a:r>
            <a:endParaRPr lang="en-US" sz="1300" dirty="0"/>
          </a:p>
        </p:txBody>
      </p:sp>
      <p:sp>
        <p:nvSpPr>
          <p:cNvPr id="21" name="Text 19"/>
          <p:cNvSpPr txBox="1"/>
          <p:nvPr/>
        </p:nvSpPr>
        <p:spPr>
          <a:xfrm>
            <a:off x="3383280" y="3273552"/>
            <a:ext cx="2377440" cy="201168"/>
          </a:xfrm>
          <a:prstGeom prst="rect">
            <a:avLst/>
          </a:prstGeom>
          <a:noFill/>
          <a:ln/>
        </p:spPr>
        <p:txBody>
          <a:bodyPr wrap="square" lIns="0" tIns="0" rIns="0" bIns="0" rtlCol="0" anchor="t"/>
          <a:lstStyle/>
          <a:p>
            <a:pPr indent="0" marL="0">
              <a:buNone/>
            </a:pPr>
            <a:r>
              <a:rPr lang="en-US" sz="900" b="1" dirty="0">
                <a:solidFill>
                  <a:srgbClr val="B7791F"/>
                </a:solidFill>
                <a:latin typeface="Calibri" pitchFamily="34" charset="0"/>
                <a:ea typeface="Calibri" pitchFamily="34" charset="-122"/>
                <a:cs typeface="Calibri" pitchFamily="34" charset="-120"/>
              </a:rPr>
              <a:t>Security, identity &amp; provenance</a:t>
            </a:r>
            <a:endParaRPr lang="en-US" sz="900" dirty="0"/>
          </a:p>
        </p:txBody>
      </p:sp>
      <p:sp>
        <p:nvSpPr>
          <p:cNvPr id="22" name="Text 20"/>
          <p:cNvSpPr txBox="1"/>
          <p:nvPr/>
        </p:nvSpPr>
        <p:spPr>
          <a:xfrm>
            <a:off x="3383280" y="3547872"/>
            <a:ext cx="2423160" cy="1188720"/>
          </a:xfrm>
          <a:prstGeom prst="rect">
            <a:avLst/>
          </a:prstGeom>
          <a:noFill/>
          <a:ln/>
        </p:spPr>
        <p:txBody>
          <a:bodyPr wrap="square" lIns="0" tIns="0" rIns="0" bIns="0" rtlCol="0" anchor="t"/>
          <a:lstStyle/>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21. Trusted-contact voiceprint (SASV)</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22. Watermark detection</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23. Protect-my-voice (anti-cloning shield)</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24. Next-generation TTS coverage (diffusion &amp; flow-matching)</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25. Live voice-changer (RVC) detection</a:t>
            </a:r>
            <a:endParaRPr lang="en-US" sz="950" dirty="0"/>
          </a:p>
        </p:txBody>
      </p:sp>
      <p:sp>
        <p:nvSpPr>
          <p:cNvPr id="23" name="Shape 21"/>
          <p:cNvSpPr/>
          <p:nvPr/>
        </p:nvSpPr>
        <p:spPr>
          <a:xfrm>
            <a:off x="6035040" y="2926080"/>
            <a:ext cx="2651760" cy="1874520"/>
          </a:xfrm>
          <a:prstGeom prst="roundRect">
            <a:avLst>
              <a:gd name="adj" fmla="val 2927"/>
            </a:avLst>
          </a:prstGeom>
          <a:solidFill>
            <a:srgbClr val="EEF1F6"/>
          </a:solidFill>
          <a:ln w="12700">
            <a:solidFill>
              <a:srgbClr val="EEF1F6"/>
            </a:solidFill>
            <a:prstDash val="solid"/>
          </a:ln>
        </p:spPr>
      </p:sp>
      <p:sp>
        <p:nvSpPr>
          <p:cNvPr id="24" name="Text 22"/>
          <p:cNvSpPr txBox="1"/>
          <p:nvPr/>
        </p:nvSpPr>
        <p:spPr>
          <a:xfrm>
            <a:off x="6172200" y="3017520"/>
            <a:ext cx="2377440" cy="256032"/>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Yukti</a:t>
            </a:r>
            <a:endParaRPr lang="en-US" sz="1300" dirty="0"/>
          </a:p>
        </p:txBody>
      </p:sp>
      <p:sp>
        <p:nvSpPr>
          <p:cNvPr id="25" name="Text 23"/>
          <p:cNvSpPr txBox="1"/>
          <p:nvPr/>
        </p:nvSpPr>
        <p:spPr>
          <a:xfrm>
            <a:off x="6172200" y="3273552"/>
            <a:ext cx="2377440" cy="201168"/>
          </a:xfrm>
          <a:prstGeom prst="rect">
            <a:avLst/>
          </a:prstGeom>
          <a:noFill/>
          <a:ln/>
        </p:spPr>
        <p:txBody>
          <a:bodyPr wrap="square" lIns="0" tIns="0" rIns="0" bIns="0" rtlCol="0" anchor="t"/>
          <a:lstStyle/>
          <a:p>
            <a:pPr indent="0" marL="0">
              <a:buNone/>
            </a:pPr>
            <a:r>
              <a:rPr lang="en-US" sz="900" b="1" dirty="0">
                <a:solidFill>
                  <a:srgbClr val="B7791F"/>
                </a:solidFill>
                <a:latin typeface="Calibri" pitchFamily="34" charset="0"/>
                <a:ea typeface="Calibri" pitchFamily="34" charset="-122"/>
                <a:cs typeface="Calibri" pitchFamily="34" charset="-120"/>
              </a:rPr>
              <a:t>Trust, metrics &amp; explainability</a:t>
            </a:r>
            <a:endParaRPr lang="en-US" sz="900" dirty="0"/>
          </a:p>
        </p:txBody>
      </p:sp>
      <p:sp>
        <p:nvSpPr>
          <p:cNvPr id="26" name="Text 24"/>
          <p:cNvSpPr txBox="1"/>
          <p:nvPr/>
        </p:nvSpPr>
        <p:spPr>
          <a:xfrm>
            <a:off x="6172200" y="3547872"/>
            <a:ext cx="2423160" cy="1188720"/>
          </a:xfrm>
          <a:prstGeom prst="rect">
            <a:avLst/>
          </a:prstGeom>
          <a:noFill/>
          <a:ln/>
        </p:spPr>
        <p:txBody>
          <a:bodyPr wrap="square" lIns="0" tIns="0" rIns="0" bIns="0" rtlCol="0" anchor="t"/>
          <a:lstStyle/>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26. Explainability heatmap</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27. Uncertainty-aware verdicts</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28. Fairness audit (gender, accent, language)</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29. Silence-shortcut audit</a:t>
            </a:r>
            <a:endParaRPr lang="en-US" sz="950" dirty="0"/>
          </a:p>
          <a:p>
            <a:pPr indent="0" marL="0">
              <a:spcAft>
                <a:spcPts val="200"/>
              </a:spcAft>
              <a:buNone/>
            </a:pPr>
            <a:r>
              <a:rPr lang="en-US" sz="950" dirty="0">
                <a:solidFill>
                  <a:srgbClr val="1B1F27"/>
                </a:solidFill>
                <a:latin typeface="Calibri" pitchFamily="34" charset="0"/>
                <a:ea typeface="Calibri" pitchFamily="34" charset="-122"/>
                <a:cs typeface="Calibri" pitchFamily="34" charset="-120"/>
              </a:rPr>
              <a:t>30. Plain-language explanation for users</a:t>
            </a:r>
            <a:endParaRPr lang="en-US" sz="950" dirty="0"/>
          </a:p>
        </p:txBody>
      </p:sp>
      <p:sp>
        <p:nvSpPr>
          <p:cNvPr id="27" name="Text 25"/>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20040"/>
          </a:xfrm>
          <a:prstGeom prst="rect">
            <a:avLst/>
          </a:prstGeom>
          <a:noFill/>
          <a:ln/>
        </p:spPr>
        <p:txBody>
          <a:bodyPr wrap="square" lIns="0" tIns="0" rIns="0" bIns="0" rtlCol="0" anchor="t"/>
          <a:lstStyle/>
          <a:p>
            <a:pPr indent="0" marL="0">
              <a:buNone/>
            </a:pPr>
            <a:r>
              <a:rPr lang="en-US" sz="1300" b="1" spc="200" kern="0" dirty="0">
                <a:solidFill>
                  <a:srgbClr val="FCA311"/>
                </a:solidFill>
                <a:latin typeface="Calibri" pitchFamily="34" charset="0"/>
                <a:ea typeface="Calibri" pitchFamily="34" charset="-122"/>
                <a:cs typeface="Calibri" pitchFamily="34" charset="-120"/>
              </a:rPr>
              <a:t>MODEL &amp; ML CORE</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Yugal</a:t>
            </a:r>
            <a:endParaRPr lang="en-US" sz="4400" dirty="0"/>
          </a:p>
        </p:txBody>
      </p:sp>
      <p:sp>
        <p:nvSpPr>
          <p:cNvPr id="4" name="Shape 2"/>
          <p:cNvSpPr/>
          <p:nvPr/>
        </p:nvSpPr>
        <p:spPr>
          <a:xfrm>
            <a:off x="548640" y="2011680"/>
            <a:ext cx="347472" cy="347472"/>
          </a:xfrm>
          <a:prstGeom prst="ellipse">
            <a:avLst/>
          </a:prstGeom>
          <a:solidFill>
            <a:srgbClr val="233559"/>
          </a:solidFill>
          <a:ln w="12700">
            <a:solidFill>
              <a:srgbClr val="FCA311"/>
            </a:solidFill>
            <a:prstDash val="solid"/>
          </a:ln>
        </p:spPr>
      </p:sp>
      <p:sp>
        <p:nvSpPr>
          <p:cNvPr id="5" name="Text 3"/>
          <p:cNvSpPr txBox="1"/>
          <p:nvPr/>
        </p:nvSpPr>
        <p:spPr>
          <a:xfrm>
            <a:off x="548640" y="2011680"/>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051560" y="2029968"/>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Partial-fake localisation</a:t>
            </a:r>
            <a:endParaRPr lang="en-US" sz="1600" dirty="0"/>
          </a:p>
        </p:txBody>
      </p:sp>
      <p:sp>
        <p:nvSpPr>
          <p:cNvPr id="7" name="Shape 5"/>
          <p:cNvSpPr/>
          <p:nvPr/>
        </p:nvSpPr>
        <p:spPr>
          <a:xfrm>
            <a:off x="7223760" y="2057400"/>
            <a:ext cx="1371600" cy="256032"/>
          </a:xfrm>
          <a:prstGeom prst="roundRect">
            <a:avLst>
              <a:gd name="adj" fmla="val 35714"/>
            </a:avLst>
          </a:prstGeom>
          <a:solidFill>
            <a:srgbClr val="C0392B"/>
          </a:solidFill>
          <a:ln w="12700">
            <a:solidFill>
              <a:srgbClr val="C0392B"/>
            </a:solidFill>
            <a:prstDash val="solid"/>
          </a:ln>
        </p:spPr>
      </p:sp>
      <p:sp>
        <p:nvSpPr>
          <p:cNvPr id="8" name="Text 6"/>
          <p:cNvSpPr txBox="1"/>
          <p:nvPr/>
        </p:nvSpPr>
        <p:spPr>
          <a:xfrm>
            <a:off x="7223760" y="205740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Large</a:t>
            </a:r>
            <a:endParaRPr lang="en-US" sz="1000" dirty="0"/>
          </a:p>
        </p:txBody>
      </p:sp>
      <p:sp>
        <p:nvSpPr>
          <p:cNvPr id="9" name="Shape 7"/>
          <p:cNvSpPr/>
          <p:nvPr/>
        </p:nvSpPr>
        <p:spPr>
          <a:xfrm>
            <a:off x="548640" y="2523744"/>
            <a:ext cx="347472" cy="347472"/>
          </a:xfrm>
          <a:prstGeom prst="ellipse">
            <a:avLst/>
          </a:prstGeom>
          <a:solidFill>
            <a:srgbClr val="233559"/>
          </a:solidFill>
          <a:ln w="12700">
            <a:solidFill>
              <a:srgbClr val="FCA311"/>
            </a:solidFill>
            <a:prstDash val="solid"/>
          </a:ln>
        </p:spPr>
      </p:sp>
      <p:sp>
        <p:nvSpPr>
          <p:cNvPr id="10" name="Text 8"/>
          <p:cNvSpPr txBox="1"/>
          <p:nvPr/>
        </p:nvSpPr>
        <p:spPr>
          <a:xfrm>
            <a:off x="548640" y="2523744"/>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051560" y="2542032"/>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Continual learning for new attacks</a:t>
            </a:r>
            <a:endParaRPr lang="en-US" sz="1600" dirty="0"/>
          </a:p>
        </p:txBody>
      </p:sp>
      <p:sp>
        <p:nvSpPr>
          <p:cNvPr id="12" name="Shape 10"/>
          <p:cNvSpPr/>
          <p:nvPr/>
        </p:nvSpPr>
        <p:spPr>
          <a:xfrm>
            <a:off x="7223760" y="2569464"/>
            <a:ext cx="1371600" cy="256032"/>
          </a:xfrm>
          <a:prstGeom prst="roundRect">
            <a:avLst>
              <a:gd name="adj" fmla="val 35714"/>
            </a:avLst>
          </a:prstGeom>
          <a:solidFill>
            <a:srgbClr val="D98E04"/>
          </a:solidFill>
          <a:ln w="12700">
            <a:solidFill>
              <a:srgbClr val="D98E04"/>
            </a:solidFill>
            <a:prstDash val="solid"/>
          </a:ln>
        </p:spPr>
      </p:sp>
      <p:sp>
        <p:nvSpPr>
          <p:cNvPr id="13" name="Text 11"/>
          <p:cNvSpPr txBox="1"/>
          <p:nvPr/>
        </p:nvSpPr>
        <p:spPr>
          <a:xfrm>
            <a:off x="7223760" y="2569464"/>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4" name="Shape 12"/>
          <p:cNvSpPr/>
          <p:nvPr/>
        </p:nvSpPr>
        <p:spPr>
          <a:xfrm>
            <a:off x="548640" y="3035808"/>
            <a:ext cx="347472" cy="347472"/>
          </a:xfrm>
          <a:prstGeom prst="ellipse">
            <a:avLst/>
          </a:prstGeom>
          <a:solidFill>
            <a:srgbClr val="233559"/>
          </a:solidFill>
          <a:ln w="12700">
            <a:solidFill>
              <a:srgbClr val="FCA311"/>
            </a:solidFill>
            <a:prstDash val="solid"/>
          </a:ln>
        </p:spPr>
      </p:sp>
      <p:sp>
        <p:nvSpPr>
          <p:cNvPr id="15" name="Text 13"/>
          <p:cNvSpPr txBox="1"/>
          <p:nvPr/>
        </p:nvSpPr>
        <p:spPr>
          <a:xfrm>
            <a:off x="548640" y="3035808"/>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51560" y="3054096"/>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LoRA adaptation of the frozen front-end</a:t>
            </a:r>
            <a:endParaRPr lang="en-US" sz="1600" dirty="0"/>
          </a:p>
        </p:txBody>
      </p:sp>
      <p:sp>
        <p:nvSpPr>
          <p:cNvPr id="17" name="Shape 15"/>
          <p:cNvSpPr/>
          <p:nvPr/>
        </p:nvSpPr>
        <p:spPr>
          <a:xfrm>
            <a:off x="7223760" y="3081528"/>
            <a:ext cx="1371600" cy="256032"/>
          </a:xfrm>
          <a:prstGeom prst="roundRect">
            <a:avLst>
              <a:gd name="adj" fmla="val 35714"/>
            </a:avLst>
          </a:prstGeom>
          <a:solidFill>
            <a:srgbClr val="D98E04"/>
          </a:solidFill>
          <a:ln w="12700">
            <a:solidFill>
              <a:srgbClr val="D98E04"/>
            </a:solidFill>
            <a:prstDash val="solid"/>
          </a:ln>
        </p:spPr>
      </p:sp>
      <p:sp>
        <p:nvSpPr>
          <p:cNvPr id="18" name="Text 16"/>
          <p:cNvSpPr txBox="1"/>
          <p:nvPr/>
        </p:nvSpPr>
        <p:spPr>
          <a:xfrm>
            <a:off x="7223760" y="3081528"/>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9" name="Shape 17"/>
          <p:cNvSpPr/>
          <p:nvPr/>
        </p:nvSpPr>
        <p:spPr>
          <a:xfrm>
            <a:off x="548640" y="3547872"/>
            <a:ext cx="347472" cy="347472"/>
          </a:xfrm>
          <a:prstGeom prst="ellipse">
            <a:avLst/>
          </a:prstGeom>
          <a:solidFill>
            <a:srgbClr val="233559"/>
          </a:solidFill>
          <a:ln w="12700">
            <a:solidFill>
              <a:srgbClr val="FCA311"/>
            </a:solidFill>
            <a:prstDash val="solid"/>
          </a:ln>
        </p:spPr>
      </p:sp>
      <p:sp>
        <p:nvSpPr>
          <p:cNvPr id="20" name="Text 18"/>
          <p:cNvSpPr txBox="1"/>
          <p:nvPr/>
        </p:nvSpPr>
        <p:spPr>
          <a:xfrm>
            <a:off x="548640" y="3547872"/>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1051560" y="3566160"/>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Mixture-of-experts layer fusion</a:t>
            </a:r>
            <a:endParaRPr lang="en-US" sz="1600" dirty="0"/>
          </a:p>
        </p:txBody>
      </p:sp>
      <p:sp>
        <p:nvSpPr>
          <p:cNvPr id="22" name="Shape 20"/>
          <p:cNvSpPr/>
          <p:nvPr/>
        </p:nvSpPr>
        <p:spPr>
          <a:xfrm>
            <a:off x="7223760" y="3593592"/>
            <a:ext cx="1371600" cy="256032"/>
          </a:xfrm>
          <a:prstGeom prst="roundRect">
            <a:avLst>
              <a:gd name="adj" fmla="val 35714"/>
            </a:avLst>
          </a:prstGeom>
          <a:solidFill>
            <a:srgbClr val="2E9E5B"/>
          </a:solidFill>
          <a:ln w="12700">
            <a:solidFill>
              <a:srgbClr val="2E9E5B"/>
            </a:solidFill>
            <a:prstDash val="solid"/>
          </a:ln>
        </p:spPr>
      </p:sp>
      <p:sp>
        <p:nvSpPr>
          <p:cNvPr id="23" name="Text 21"/>
          <p:cNvSpPr txBox="1"/>
          <p:nvPr/>
        </p:nvSpPr>
        <p:spPr>
          <a:xfrm>
            <a:off x="7223760" y="3593592"/>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24" name="Shape 22"/>
          <p:cNvSpPr/>
          <p:nvPr/>
        </p:nvSpPr>
        <p:spPr>
          <a:xfrm>
            <a:off x="548640" y="4059936"/>
            <a:ext cx="347472" cy="347472"/>
          </a:xfrm>
          <a:prstGeom prst="ellipse">
            <a:avLst/>
          </a:prstGeom>
          <a:solidFill>
            <a:srgbClr val="233559"/>
          </a:solidFill>
          <a:ln w="12700">
            <a:solidFill>
              <a:srgbClr val="FCA311"/>
            </a:solidFill>
            <a:prstDash val="solid"/>
          </a:ln>
        </p:spPr>
      </p:sp>
      <p:sp>
        <p:nvSpPr>
          <p:cNvPr id="25" name="Text 23"/>
          <p:cNvSpPr txBox="1"/>
          <p:nvPr/>
        </p:nvSpPr>
        <p:spPr>
          <a:xfrm>
            <a:off x="548640" y="4059936"/>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1051560" y="4078224"/>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On-device lightweight detector</a:t>
            </a:r>
            <a:endParaRPr lang="en-US" sz="1600" dirty="0"/>
          </a:p>
        </p:txBody>
      </p:sp>
      <p:sp>
        <p:nvSpPr>
          <p:cNvPr id="27" name="Shape 25"/>
          <p:cNvSpPr/>
          <p:nvPr/>
        </p:nvSpPr>
        <p:spPr>
          <a:xfrm>
            <a:off x="7223760" y="4105656"/>
            <a:ext cx="1371600" cy="256032"/>
          </a:xfrm>
          <a:prstGeom prst="roundRect">
            <a:avLst>
              <a:gd name="adj" fmla="val 35714"/>
            </a:avLst>
          </a:prstGeom>
          <a:solidFill>
            <a:srgbClr val="D98E04"/>
          </a:solidFill>
          <a:ln w="12700">
            <a:solidFill>
              <a:srgbClr val="D98E04"/>
            </a:solidFill>
            <a:prstDash val="solid"/>
          </a:ln>
        </p:spPr>
      </p:sp>
      <p:sp>
        <p:nvSpPr>
          <p:cNvPr id="28" name="Text 26"/>
          <p:cNvSpPr txBox="1"/>
          <p:nvPr/>
        </p:nvSpPr>
        <p:spPr>
          <a:xfrm>
            <a:off x="7223760" y="4105656"/>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txBox="1"/>
          <p:nvPr/>
        </p:nvSpPr>
        <p:spPr>
          <a:xfrm>
            <a:off x="548640" y="4663440"/>
            <a:ext cx="3657600" cy="228600"/>
          </a:xfrm>
          <a:prstGeom prst="rect">
            <a:avLst/>
          </a:prstGeom>
          <a:noFill/>
          <a:ln/>
        </p:spPr>
        <p:txBody>
          <a:bodyPr wrap="square" lIns="0" tIns="0" rIns="0" bIns="0" rtlCol="0" anchor="t"/>
          <a:lstStyle/>
          <a:p>
            <a:pPr indent="0" marL="0">
              <a:buNone/>
            </a:pPr>
            <a:r>
              <a:rPr lang="en-US" sz="1000" dirty="0">
                <a:solidFill>
                  <a:srgbClr val="8C97AD"/>
                </a:solidFill>
                <a:latin typeface="Calibri" pitchFamily="34" charset="0"/>
                <a:ea typeface="Calibri" pitchFamily="34" charset="-122"/>
                <a:cs typeface="Calibri" pitchFamily="34" charset="-120"/>
              </a:rPr>
              <a:t>Papers [1]-[10]</a:t>
            </a:r>
            <a:endParaRPr lang="en-US" sz="1000" dirty="0"/>
          </a:p>
        </p:txBody>
      </p:sp>
      <p:sp>
        <p:nvSpPr>
          <p:cNvPr id="30" name="Text 28"/>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8C97A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Partial-fake localisation</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Yugal  ·  Model &amp; ML core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Show WHICH seconds of the call are cloned, not just whether the call is.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 scammer does not need a fully cloned call. Splicing one fake sentence ("send the OTP to this number") into real speech is enough. SONIX scores 4 s windows and then applies a 5-window moving average plus 3-of-5 hysteresis, so a 1-2 s fake segment can be smoothed away before it ever turns the band Red.</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Add a frame-level (20 ms) output head on the XLS-R frames alongside the utterance score, trained on PartialSpoof. The UI then shades the fake regions on the existing risk timeline.</a:t>
            </a:r>
            <a:endParaRPr lang="en-US" sz="1100" dirty="0"/>
          </a:p>
        </p:txBody>
      </p:sp>
      <p:sp>
        <p:nvSpPr>
          <p:cNvPr id="11" name="Shape 9"/>
          <p:cNvSpPr/>
          <p:nvPr/>
        </p:nvSpPr>
        <p:spPr>
          <a:xfrm>
            <a:off x="457200" y="4553712"/>
            <a:ext cx="1920240" cy="274320"/>
          </a:xfrm>
          <a:prstGeom prst="roundRect">
            <a:avLst>
              <a:gd name="adj" fmla="val 33333"/>
            </a:avLst>
          </a:prstGeom>
          <a:solidFill>
            <a:srgbClr val="C0392B"/>
          </a:solidFill>
          <a:ln w="12700">
            <a:solidFill>
              <a:srgbClr val="C0392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Large: new data/model</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 Initial Investigation for Detecting Partially Spoofed Audio</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2021</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Introduces the PartialSpoof database. Shows that real attacks can be partially spoofed and that countermeasures trained only on fully spoofed audio are not designed for this case.</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PartialSpoof Database and Countermeasures for the Detection of Short Fake Speech Segments Embedded in an Utterance</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IEEE/ACM TASLP 2023</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Detectors trained on fully spoofed data degrade substantially on partially spoofed data, while training on partial spoofs works for both. Multi-task (segment + utterance) models beat single-task ones.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Continual learning for new attacks</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Yugal  ·  Model &amp; ML core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Teach SONIX each new cloning tool without forgetting the old ones.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New TTS and voice-cloning tools ship every month. Today the only way to cover one is to retrain the head, and there are already 7-9 heads that nobody can fully reconstruct (V4 brief, S6). Naive fine-tuning on a new generator erodes performance on ASVspoof and Indic data (catastrophic forgetting).</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Add a DFWF- or RAWM-style regularised update step to src/train.py so a new generator family can be added in minutes on cached embeddings, and log before/after EER on every old split.</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Continual Learning for Fake Audio Detection</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2021</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Proposes DFWF (Detecting Fake Without Forgetting): knowledge-distillation plus embedding-similarity losses let the model learn new attacks without old data. Reports up to 81.62% relative average-EER reduction versus plain fine-tuning.</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 You Remember? Overcoming Catastrophic Forgetting for Fake Audio Detection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ICML 2023</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Proposes RAWM, which changes the direction of weight updates based on the ratio of genuine to fake samples, so the model detects the new dataset while keeping what it knew.</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3</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LoRA adaptation of the frozen front-end</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Yugal  ·  Model &amp; ML core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Let XLS-R itself learn spoof cues while training under 1% of its weights.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The v4 probes found no transferable synthesis signal in the frozen, mean-pooled XLS-R vector (cross-domain AUC 0.52; docs/PROBE_RESULTS.md). The MLP head cannot recover information the frozen encoder never exposes. Full fine-tuning of 300M parameters is out of reach on our GPUs; LoRA is the middle ground.</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Insert LoRA adapters into the XLS-R attention layers, train adapters + head together, and keep the base weights frozen so the realtime path only adds small adapter matrices.</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Low-rank Adaptation Method for Wav2vec2-based Fake Audio Detection</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DADA Workshop @ IJCAI 2023</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LoRA on wav2vec2 cut trainable parameters by a factor of 198 while matching full fine-tuning performance.</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[6]</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MoLEx: Mixture of LoRA Experts in Speech Self-Supervised Models for Audio Deepfake Detection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 ASRU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Combines LoRA with a mixture-of-experts router inside the SSL model; extra experts can be added for new domains without touching the rest. Reports 5.56% EER on ASVspoof 5 eval without augmentation.</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4</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Mixture-of-experts layer fusion</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Yugal  ·  Model &amp; ML core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A small gate decides, per clip, which XLS-R layers or experts to trust.</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v4 already extracts layers 5, 6 and 24 with mean+std pooling, but combines them with a fixed recipe. Different attacks leave evidence in different layers; a learned gate can weight them per input instead of averaging everything equally.</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Replace the fixed layer concatenation with a gating network over layer embeddings (or over several small expert heads), trained on the same cached v2 embeddings.</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[7]</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Mixture of Experts Fusion for Fake Audio Detection Using Frozen wav2vec 2.0</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2025</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Keeps wav2vec 2.0 frozen (same setting as SONIX) and fuses its layer representations with a mixture-of-experts module instead of using only the last layer.</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[8]</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Leveraging Mixture of Experts for Improved Speech Deepfake Detection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 lightweight gate assigns expert weights per input; reported to generalise better to unseen data than single models or plain ensembles, and new experts can be added as attacks evolve.</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5</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On-device lightweight detector</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Yugal  ·  Model &amp; ML core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Run detection inside the phone or browser, with no server and no audio leaving the device.</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The live path is GPU-bound: on the GTX 1650, batch 8 takes 744 ms against a 0.5 s hop budget (FEATURES.txt, section 7). The Chrome extension is a thin client that needs a localhost Python server. A truncated or distilled model removes that dependency and strengthens the privacy story.</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Distil the current XLS-R + head into a truncated backbone (first N transformer layers) with a simple classifier, export to ONNX, and benchmark it with realtime/selftest.py against the full model.</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[9]</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Detecting Audio Deepfakes on the Edge: Lightweight SSL-Based Detection in a Browser Plugin</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 (preprint)</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 truncated SSL backbone plus a logistic classifier, shipped inside a browser plug-in. Reports beating an AASIST baseline by 10% with 40% faster inference, and motivates edge processing on privacy grounds.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[10]</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One-Class Knowledge Distillation for Spoofing Speech Detection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2024</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 teacher-student framework trains a compact one-class student; reported to outperform prior methods on ASVspoof 2021 DF and In-the-Wild.</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20040"/>
          </a:xfrm>
          <a:prstGeom prst="rect">
            <a:avLst/>
          </a:prstGeom>
          <a:noFill/>
          <a:ln/>
        </p:spPr>
        <p:txBody>
          <a:bodyPr wrap="square" lIns="0" tIns="0" rIns="0" bIns="0" rtlCol="0" anchor="t"/>
          <a:lstStyle/>
          <a:p>
            <a:pPr indent="0" marL="0">
              <a:buNone/>
            </a:pPr>
            <a:r>
              <a:rPr lang="en-US" sz="1300" b="1" spc="200" kern="0" dirty="0">
                <a:solidFill>
                  <a:srgbClr val="FCA311"/>
                </a:solidFill>
                <a:latin typeface="Calibri" pitchFamily="34" charset="0"/>
                <a:ea typeface="Calibri" pitchFamily="34" charset="-122"/>
                <a:cs typeface="Calibri" pitchFamily="34" charset="-120"/>
              </a:rPr>
              <a:t>ROBUSTNESS &amp; TELEPHONY</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Anubhav</a:t>
            </a:r>
            <a:endParaRPr lang="en-US" sz="4400" dirty="0"/>
          </a:p>
        </p:txBody>
      </p:sp>
      <p:sp>
        <p:nvSpPr>
          <p:cNvPr id="4" name="Shape 2"/>
          <p:cNvSpPr/>
          <p:nvPr/>
        </p:nvSpPr>
        <p:spPr>
          <a:xfrm>
            <a:off x="548640" y="2011680"/>
            <a:ext cx="347472" cy="347472"/>
          </a:xfrm>
          <a:prstGeom prst="ellipse">
            <a:avLst/>
          </a:prstGeom>
          <a:solidFill>
            <a:srgbClr val="233559"/>
          </a:solidFill>
          <a:ln w="12700">
            <a:solidFill>
              <a:srgbClr val="FCA311"/>
            </a:solidFill>
            <a:prstDash val="solid"/>
          </a:ln>
        </p:spPr>
      </p:sp>
      <p:sp>
        <p:nvSpPr>
          <p:cNvPr id="5" name="Text 3"/>
          <p:cNvSpPr txBox="1"/>
          <p:nvPr/>
        </p:nvSpPr>
        <p:spPr>
          <a:xfrm>
            <a:off x="548640" y="2011680"/>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6</a:t>
            </a:r>
            <a:endParaRPr lang="en-US" sz="1200" dirty="0"/>
          </a:p>
        </p:txBody>
      </p:sp>
      <p:sp>
        <p:nvSpPr>
          <p:cNvPr id="6" name="Text 4"/>
          <p:cNvSpPr txBox="1"/>
          <p:nvPr/>
        </p:nvSpPr>
        <p:spPr>
          <a:xfrm>
            <a:off x="1051560" y="2029968"/>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Codec-LM (neural codec) TTS detection</a:t>
            </a:r>
            <a:endParaRPr lang="en-US" sz="1600" dirty="0"/>
          </a:p>
        </p:txBody>
      </p:sp>
      <p:sp>
        <p:nvSpPr>
          <p:cNvPr id="7" name="Shape 5"/>
          <p:cNvSpPr/>
          <p:nvPr/>
        </p:nvSpPr>
        <p:spPr>
          <a:xfrm>
            <a:off x="7223760" y="2057400"/>
            <a:ext cx="1371600" cy="256032"/>
          </a:xfrm>
          <a:prstGeom prst="roundRect">
            <a:avLst>
              <a:gd name="adj" fmla="val 35714"/>
            </a:avLst>
          </a:prstGeom>
          <a:solidFill>
            <a:srgbClr val="D98E04"/>
          </a:solidFill>
          <a:ln w="12700">
            <a:solidFill>
              <a:srgbClr val="D98E04"/>
            </a:solidFill>
            <a:prstDash val="solid"/>
          </a:ln>
        </p:spPr>
      </p:sp>
      <p:sp>
        <p:nvSpPr>
          <p:cNvPr id="8" name="Text 6"/>
          <p:cNvSpPr txBox="1"/>
          <p:nvPr/>
        </p:nvSpPr>
        <p:spPr>
          <a:xfrm>
            <a:off x="7223760" y="205740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9" name="Shape 7"/>
          <p:cNvSpPr/>
          <p:nvPr/>
        </p:nvSpPr>
        <p:spPr>
          <a:xfrm>
            <a:off x="548640" y="2523744"/>
            <a:ext cx="347472" cy="347472"/>
          </a:xfrm>
          <a:prstGeom prst="ellipse">
            <a:avLst/>
          </a:prstGeom>
          <a:solidFill>
            <a:srgbClr val="233559"/>
          </a:solidFill>
          <a:ln w="12700">
            <a:solidFill>
              <a:srgbClr val="FCA311"/>
            </a:solidFill>
            <a:prstDash val="solid"/>
          </a:ln>
        </p:spPr>
      </p:sp>
      <p:sp>
        <p:nvSpPr>
          <p:cNvPr id="10" name="Text 8"/>
          <p:cNvSpPr txBox="1"/>
          <p:nvPr/>
        </p:nvSpPr>
        <p:spPr>
          <a:xfrm>
            <a:off x="548640" y="2523744"/>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7</a:t>
            </a:r>
            <a:endParaRPr lang="en-US" sz="1200" dirty="0"/>
          </a:p>
        </p:txBody>
      </p:sp>
      <p:sp>
        <p:nvSpPr>
          <p:cNvPr id="11" name="Text 9"/>
          <p:cNvSpPr txBox="1"/>
          <p:nvPr/>
        </p:nvSpPr>
        <p:spPr>
          <a:xfrm>
            <a:off x="1051560" y="2542032"/>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Replay (over-the-air) robustness</a:t>
            </a:r>
            <a:endParaRPr lang="en-US" sz="1600" dirty="0"/>
          </a:p>
        </p:txBody>
      </p:sp>
      <p:sp>
        <p:nvSpPr>
          <p:cNvPr id="12" name="Shape 10"/>
          <p:cNvSpPr/>
          <p:nvPr/>
        </p:nvSpPr>
        <p:spPr>
          <a:xfrm>
            <a:off x="7223760" y="2569464"/>
            <a:ext cx="1371600" cy="256032"/>
          </a:xfrm>
          <a:prstGeom prst="roundRect">
            <a:avLst>
              <a:gd name="adj" fmla="val 35714"/>
            </a:avLst>
          </a:prstGeom>
          <a:solidFill>
            <a:srgbClr val="D98E04"/>
          </a:solidFill>
          <a:ln w="12700">
            <a:solidFill>
              <a:srgbClr val="D98E04"/>
            </a:solidFill>
            <a:prstDash val="solid"/>
          </a:ln>
        </p:spPr>
      </p:sp>
      <p:sp>
        <p:nvSpPr>
          <p:cNvPr id="13" name="Text 11"/>
          <p:cNvSpPr txBox="1"/>
          <p:nvPr/>
        </p:nvSpPr>
        <p:spPr>
          <a:xfrm>
            <a:off x="7223760" y="2569464"/>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4" name="Shape 12"/>
          <p:cNvSpPr/>
          <p:nvPr/>
        </p:nvSpPr>
        <p:spPr>
          <a:xfrm>
            <a:off x="548640" y="3035808"/>
            <a:ext cx="347472" cy="347472"/>
          </a:xfrm>
          <a:prstGeom prst="ellipse">
            <a:avLst/>
          </a:prstGeom>
          <a:solidFill>
            <a:srgbClr val="233559"/>
          </a:solidFill>
          <a:ln w="12700">
            <a:solidFill>
              <a:srgbClr val="FCA311"/>
            </a:solidFill>
            <a:prstDash val="solid"/>
          </a:ln>
        </p:spPr>
      </p:sp>
      <p:sp>
        <p:nvSpPr>
          <p:cNvPr id="15" name="Text 13"/>
          <p:cNvSpPr txBox="1"/>
          <p:nvPr/>
        </p:nvSpPr>
        <p:spPr>
          <a:xfrm>
            <a:off x="548640" y="3035808"/>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8</a:t>
            </a:r>
            <a:endParaRPr lang="en-US" sz="1200" dirty="0"/>
          </a:p>
        </p:txBody>
      </p:sp>
      <p:sp>
        <p:nvSpPr>
          <p:cNvPr id="16" name="Text 14"/>
          <p:cNvSpPr txBox="1"/>
          <p:nvPr/>
        </p:nvSpPr>
        <p:spPr>
          <a:xfrm>
            <a:off x="1051560" y="3054096"/>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Laundering stress test + augmentation</a:t>
            </a:r>
            <a:endParaRPr lang="en-US" sz="1600" dirty="0"/>
          </a:p>
        </p:txBody>
      </p:sp>
      <p:sp>
        <p:nvSpPr>
          <p:cNvPr id="17" name="Shape 15"/>
          <p:cNvSpPr/>
          <p:nvPr/>
        </p:nvSpPr>
        <p:spPr>
          <a:xfrm>
            <a:off x="7223760" y="3081528"/>
            <a:ext cx="1371600" cy="256032"/>
          </a:xfrm>
          <a:prstGeom prst="roundRect">
            <a:avLst>
              <a:gd name="adj" fmla="val 35714"/>
            </a:avLst>
          </a:prstGeom>
          <a:solidFill>
            <a:srgbClr val="2E9E5B"/>
          </a:solidFill>
          <a:ln w="12700">
            <a:solidFill>
              <a:srgbClr val="2E9E5B"/>
            </a:solidFill>
            <a:prstDash val="solid"/>
          </a:ln>
        </p:spPr>
      </p:sp>
      <p:sp>
        <p:nvSpPr>
          <p:cNvPr id="18" name="Text 16"/>
          <p:cNvSpPr txBox="1"/>
          <p:nvPr/>
        </p:nvSpPr>
        <p:spPr>
          <a:xfrm>
            <a:off x="7223760" y="3081528"/>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19" name="Shape 17"/>
          <p:cNvSpPr/>
          <p:nvPr/>
        </p:nvSpPr>
        <p:spPr>
          <a:xfrm>
            <a:off x="548640" y="3547872"/>
            <a:ext cx="347472" cy="347472"/>
          </a:xfrm>
          <a:prstGeom prst="ellipse">
            <a:avLst/>
          </a:prstGeom>
          <a:solidFill>
            <a:srgbClr val="233559"/>
          </a:solidFill>
          <a:ln w="12700">
            <a:solidFill>
              <a:srgbClr val="FCA311"/>
            </a:solidFill>
            <a:prstDash val="solid"/>
          </a:ln>
        </p:spPr>
      </p:sp>
      <p:sp>
        <p:nvSpPr>
          <p:cNvPr id="20" name="Text 18"/>
          <p:cNvSpPr txBox="1"/>
          <p:nvPr/>
        </p:nvSpPr>
        <p:spPr>
          <a:xfrm>
            <a:off x="548640" y="3547872"/>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9</a:t>
            </a:r>
            <a:endParaRPr lang="en-US" sz="1200" dirty="0"/>
          </a:p>
        </p:txBody>
      </p:sp>
      <p:sp>
        <p:nvSpPr>
          <p:cNvPr id="21" name="Text 19"/>
          <p:cNvSpPr txBox="1"/>
          <p:nvPr/>
        </p:nvSpPr>
        <p:spPr>
          <a:xfrm>
            <a:off x="1051560" y="3566160"/>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Adversarial-attack defence</a:t>
            </a:r>
            <a:endParaRPr lang="en-US" sz="1600" dirty="0"/>
          </a:p>
        </p:txBody>
      </p:sp>
      <p:sp>
        <p:nvSpPr>
          <p:cNvPr id="22" name="Shape 20"/>
          <p:cNvSpPr/>
          <p:nvPr/>
        </p:nvSpPr>
        <p:spPr>
          <a:xfrm>
            <a:off x="7223760" y="3593592"/>
            <a:ext cx="1371600" cy="256032"/>
          </a:xfrm>
          <a:prstGeom prst="roundRect">
            <a:avLst>
              <a:gd name="adj" fmla="val 35714"/>
            </a:avLst>
          </a:prstGeom>
          <a:solidFill>
            <a:srgbClr val="D98E04"/>
          </a:solidFill>
          <a:ln w="12700">
            <a:solidFill>
              <a:srgbClr val="D98E04"/>
            </a:solidFill>
            <a:prstDash val="solid"/>
          </a:ln>
        </p:spPr>
      </p:sp>
      <p:sp>
        <p:nvSpPr>
          <p:cNvPr id="23" name="Text 21"/>
          <p:cNvSpPr txBox="1"/>
          <p:nvPr/>
        </p:nvSpPr>
        <p:spPr>
          <a:xfrm>
            <a:off x="7223760" y="3593592"/>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4" name="Shape 22"/>
          <p:cNvSpPr/>
          <p:nvPr/>
        </p:nvSpPr>
        <p:spPr>
          <a:xfrm>
            <a:off x="548640" y="4059936"/>
            <a:ext cx="347472" cy="347472"/>
          </a:xfrm>
          <a:prstGeom prst="ellipse">
            <a:avLst/>
          </a:prstGeom>
          <a:solidFill>
            <a:srgbClr val="233559"/>
          </a:solidFill>
          <a:ln w="12700">
            <a:solidFill>
              <a:srgbClr val="FCA311"/>
            </a:solidFill>
            <a:prstDash val="solid"/>
          </a:ln>
        </p:spPr>
      </p:sp>
      <p:sp>
        <p:nvSpPr>
          <p:cNvPr id="25" name="Text 23"/>
          <p:cNvSpPr txBox="1"/>
          <p:nvPr/>
        </p:nvSpPr>
        <p:spPr>
          <a:xfrm>
            <a:off x="548640" y="4059936"/>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10</a:t>
            </a:r>
            <a:endParaRPr lang="en-US" sz="1200" dirty="0"/>
          </a:p>
        </p:txBody>
      </p:sp>
      <p:sp>
        <p:nvSpPr>
          <p:cNvPr id="26" name="Text 24"/>
          <p:cNvSpPr txBox="1"/>
          <p:nvPr/>
        </p:nvSpPr>
        <p:spPr>
          <a:xfrm>
            <a:off x="1051560" y="4078224"/>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Real-call platform robustness (Meet / Zoom / WhatsApp)</a:t>
            </a:r>
            <a:endParaRPr lang="en-US" sz="1600" dirty="0"/>
          </a:p>
        </p:txBody>
      </p:sp>
      <p:sp>
        <p:nvSpPr>
          <p:cNvPr id="27" name="Shape 25"/>
          <p:cNvSpPr/>
          <p:nvPr/>
        </p:nvSpPr>
        <p:spPr>
          <a:xfrm>
            <a:off x="7223760" y="4105656"/>
            <a:ext cx="1371600" cy="256032"/>
          </a:xfrm>
          <a:prstGeom prst="roundRect">
            <a:avLst>
              <a:gd name="adj" fmla="val 35714"/>
            </a:avLst>
          </a:prstGeom>
          <a:solidFill>
            <a:srgbClr val="D98E04"/>
          </a:solidFill>
          <a:ln w="12700">
            <a:solidFill>
              <a:srgbClr val="D98E04"/>
            </a:solidFill>
            <a:prstDash val="solid"/>
          </a:ln>
        </p:spPr>
      </p:sp>
      <p:sp>
        <p:nvSpPr>
          <p:cNvPr id="28" name="Text 26"/>
          <p:cNvSpPr txBox="1"/>
          <p:nvPr/>
        </p:nvSpPr>
        <p:spPr>
          <a:xfrm>
            <a:off x="7223760" y="4105656"/>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txBox="1"/>
          <p:nvPr/>
        </p:nvSpPr>
        <p:spPr>
          <a:xfrm>
            <a:off x="548640" y="4663440"/>
            <a:ext cx="3657600" cy="228600"/>
          </a:xfrm>
          <a:prstGeom prst="rect">
            <a:avLst/>
          </a:prstGeom>
          <a:noFill/>
          <a:ln/>
        </p:spPr>
        <p:txBody>
          <a:bodyPr wrap="square" lIns="0" tIns="0" rIns="0" bIns="0" rtlCol="0" anchor="t"/>
          <a:lstStyle/>
          <a:p>
            <a:pPr indent="0" marL="0">
              <a:buNone/>
            </a:pPr>
            <a:r>
              <a:rPr lang="en-US" sz="1000" dirty="0">
                <a:solidFill>
                  <a:srgbClr val="8C97AD"/>
                </a:solidFill>
                <a:latin typeface="Calibri" pitchFamily="34" charset="0"/>
                <a:ea typeface="Calibri" pitchFamily="34" charset="-122"/>
                <a:cs typeface="Calibri" pitchFamily="34" charset="-120"/>
              </a:rPr>
              <a:t>Papers [11]-[20]</a:t>
            </a:r>
            <a:endParaRPr lang="en-US" sz="1000" dirty="0"/>
          </a:p>
        </p:txBody>
      </p:sp>
      <p:sp>
        <p:nvSpPr>
          <p:cNvPr id="30" name="Text 28"/>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8C97A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6</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Codec-LM (neural codec) TTS detection</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Anubhav  ·  Robustness &amp; telephony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Catch the newest 3-second voice clones built on neural audio codecs.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Modern zero-shot cloners generate speech as neural-codec tokens (VALL-E-style audio language models), not through the classic vocoders in ASVspoof 2019. Both papers show vocoder-trained detectors miss this family, which is exactly what a 2026 scammer would use.</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Add CodecFake / Codecfake clips as a new generator family in the v4 manifest (training + a held-out slice), and report EER on it as a separate row in the results table.</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[11]</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CodecFake: Enhancing Anti-Spoofing Models Against Deepfake Audios from Codec-Based Speech Synthesis Systems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2024</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First codec-based deepfake dataset (15 codec models from 6 codec families). Anti-spoofing models trained on common datasets fail on codec-based speech; training on CodecFake fixes this.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[12]</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Codecfake Dataset and Countermeasures for the Universally Detection of Deepfake Audio</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IEEE/ACM TASLP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Over 1 million English and Chinese samples from audio-language-model generators, plus a CSAM training strategy; reports 0.616% average EER across its test conditions.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7</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Replay (over-the-air) robustness</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Anubhav  ·  Robustness &amp; telephony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Still catch a clone that is played through a speaker into a phone.</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The realistic fraud path is: scammer plays the cloned voice from a laptop speaker into a phone microphone. That acoustic trip disguises vocoder artefacts. ReplayDF shows a leading SSL detector's EER jumping from 4.7% to 18.2% under replay. SONIX has never been tested this way.</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Record a small replay set (our own clones played through 3-4 speaker/mic pairs), add room-impulse-response replay simulation to training, and report replay EER separately.</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[13]</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Replay Attacks Against Audio Deepfake Detection</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2025</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ReplayDF: 109 speaker-microphone combinations, 6 languages, 4 TTS models. W2V2-AASIST EER rises from 4.7% to 18.2% under replay, and still sits at 11.0% after RIR-based retraining.</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[14]</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ASVspoof 2019: A Large-Scale Public Database of Synthesized, Converted and Replayed Speech</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Computer Speech &amp; Language 2020</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Defines the physical-access (replay) scenario alongside the logical-access data SONIX already uses, with controlled simulated replay conditions; the PA partition is a ready source of replay training data.</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8</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Laundering stress test + augmentation</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Anubhav  ·  Robustness &amp; telephony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Prove SONIX survives noise, reverb, re-compression and resampling, not just clean files.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SONIX's 1.49% EER is on clean ASVspoof 2019 LA eval. Real calls are 'laundered': background noise, room echo, re-encoding. Ali et al. show state-of-the-art detectors perform poorly under aggressive laundering, especially reverb and additive noise.</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Build a laundering eval grid (noise type x SNR, reverb, recompression, resampling) with make_codec.py-style scripts, then use the same transforms as symmetric training augmentation (V4 hard rule 2).</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[15]</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Is Audio Spoof Detection Robust to Laundering Attacks?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ACM IH&amp;MMSec 2024</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Builds the ASVspoof Laundering Database and evaluates seven state-of-the-art detectors; all perform poorly under aggressive laundering, especially reverberation and additive noise.</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[16]</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Augmentation through Laundering Attacks for Audio Spoof Detection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ASVspoof 2024 Workshop</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Trains AASIST with five laundering attack types (reverb, several real noise types, recompression, resampling) as augmentation and evaluates on ASVspoof 5.</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9</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Adversarial-attack defence</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Anubhav  ·  Robustness &amp; telephony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Stop an attacker from adding inaudible noise that flips SONIX to Green.</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SONIX's architecture (frozen public XLS-R) is documented in our own PPT, so an attacker can build a white-box copy and craft perturbations. Liu et al. show all tested countermeasures are vulnerable to FGSM/PGD. A security product must address this before a jury does.</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Run FGSM/PGD against our head as a red-team test, then add a cheap passive defence (input smoothing) and adversarial training, reporting EER before/after.</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[17]</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Adversarial Attacks on Spoofing Countermeasures of Automatic Speaker Verification</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 ASRU 2019</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All implemented ASVspoof 2019 countermeasures are vulnerable to FGSM and PGD attacks in the white-box setting; black-box transfer attacks are also studied.</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[18]</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Defense Against Adversarial Attacks on Spoofing Countermeasures of ASV</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2020</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Proposes a passive defence (spatial smoothing, no retraining) and a proactive one (adversarial training); both improve robustness of spoofing countermeasures.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10</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Real-call platform robustness (Meet / Zoom / WhatsApp)</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Anubhav  ·  Robustness &amp; telephony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Train and test on audio that has really gone through calling apps.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FEATURES.txt section 7 already admits it: Meet's own noise suppression and AGC alter audio before SONIX sees it. make_codec.py only covers G.711. RTCFake shows detectors struggle with exactly these unknown enhancement + codec chains.</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Route a slice of eval audio through Meet/WhatsApp/Zoom (the same way RTCFake did) to create paired offline/online clips; report the gap and add paired consistency training.</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[19]</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RTCFake: Speech Deepfake Detection in Real-Time Communication</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Findings of ACL 2026</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About 600 hours of speech transmitted through mainstream social and conferencing platforms (e.g. Zoom), paired with the offline originals. Proposes phoneme-guided consistency learning for platform-invariant representations.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[20]</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Benchmarking Audio Deepfake Detection Robustness in Real-world Communication Scenarios</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 conference paper,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Benchmarks existing detectors under communication-channel degradations and shows how much robustness is lost outside clean benchmark conditions.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20040"/>
          </a:xfrm>
          <a:prstGeom prst="rect">
            <a:avLst/>
          </a:prstGeom>
          <a:noFill/>
          <a:ln/>
        </p:spPr>
        <p:txBody>
          <a:bodyPr wrap="square" lIns="0" tIns="0" rIns="0" bIns="0" rtlCol="0" anchor="t"/>
          <a:lstStyle/>
          <a:p>
            <a:pPr indent="0" marL="0">
              <a:buNone/>
            </a:pPr>
            <a:r>
              <a:rPr lang="en-US" sz="1300" b="1" spc="200" kern="0" dirty="0">
                <a:solidFill>
                  <a:srgbClr val="FCA311"/>
                </a:solidFill>
                <a:latin typeface="Calibri" pitchFamily="34" charset="0"/>
                <a:ea typeface="Calibri" pitchFamily="34" charset="-122"/>
                <a:cs typeface="Calibri" pitchFamily="34" charset="-120"/>
              </a:rPr>
              <a:t>REAL-TIME PRODUCT &amp; UX</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Suryansh</a:t>
            </a:r>
            <a:endParaRPr lang="en-US" sz="4400" dirty="0"/>
          </a:p>
        </p:txBody>
      </p:sp>
      <p:sp>
        <p:nvSpPr>
          <p:cNvPr id="4" name="Shape 2"/>
          <p:cNvSpPr/>
          <p:nvPr/>
        </p:nvSpPr>
        <p:spPr>
          <a:xfrm>
            <a:off x="548640" y="2011680"/>
            <a:ext cx="347472" cy="347472"/>
          </a:xfrm>
          <a:prstGeom prst="ellipse">
            <a:avLst/>
          </a:prstGeom>
          <a:solidFill>
            <a:srgbClr val="233559"/>
          </a:solidFill>
          <a:ln w="12700">
            <a:solidFill>
              <a:srgbClr val="FCA311"/>
            </a:solidFill>
            <a:prstDash val="solid"/>
          </a:ln>
        </p:spPr>
      </p:sp>
      <p:sp>
        <p:nvSpPr>
          <p:cNvPr id="5" name="Text 3"/>
          <p:cNvSpPr txBox="1"/>
          <p:nvPr/>
        </p:nvSpPr>
        <p:spPr>
          <a:xfrm>
            <a:off x="548640" y="2011680"/>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11</a:t>
            </a:r>
            <a:endParaRPr lang="en-US" sz="1200" dirty="0"/>
          </a:p>
        </p:txBody>
      </p:sp>
      <p:sp>
        <p:nvSpPr>
          <p:cNvPr id="6" name="Text 4"/>
          <p:cNvSpPr txBox="1"/>
          <p:nvPr/>
        </p:nvSpPr>
        <p:spPr>
          <a:xfrm>
            <a:off x="1051560" y="2029968"/>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Challenge-response liveness prompt</a:t>
            </a:r>
            <a:endParaRPr lang="en-US" sz="1600" dirty="0"/>
          </a:p>
        </p:txBody>
      </p:sp>
      <p:sp>
        <p:nvSpPr>
          <p:cNvPr id="7" name="Shape 5"/>
          <p:cNvSpPr/>
          <p:nvPr/>
        </p:nvSpPr>
        <p:spPr>
          <a:xfrm>
            <a:off x="7223760" y="2057400"/>
            <a:ext cx="1371600" cy="256032"/>
          </a:xfrm>
          <a:prstGeom prst="roundRect">
            <a:avLst>
              <a:gd name="adj" fmla="val 35714"/>
            </a:avLst>
          </a:prstGeom>
          <a:solidFill>
            <a:srgbClr val="2E9E5B"/>
          </a:solidFill>
          <a:ln w="12700">
            <a:solidFill>
              <a:srgbClr val="2E9E5B"/>
            </a:solidFill>
            <a:prstDash val="solid"/>
          </a:ln>
        </p:spPr>
      </p:sp>
      <p:sp>
        <p:nvSpPr>
          <p:cNvPr id="8" name="Text 6"/>
          <p:cNvSpPr txBox="1"/>
          <p:nvPr/>
        </p:nvSpPr>
        <p:spPr>
          <a:xfrm>
            <a:off x="7223760" y="205740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9" name="Shape 7"/>
          <p:cNvSpPr/>
          <p:nvPr/>
        </p:nvSpPr>
        <p:spPr>
          <a:xfrm>
            <a:off x="548640" y="2523744"/>
            <a:ext cx="347472" cy="347472"/>
          </a:xfrm>
          <a:prstGeom prst="ellipse">
            <a:avLst/>
          </a:prstGeom>
          <a:solidFill>
            <a:srgbClr val="233559"/>
          </a:solidFill>
          <a:ln w="12700">
            <a:solidFill>
              <a:srgbClr val="FCA311"/>
            </a:solidFill>
            <a:prstDash val="solid"/>
          </a:ln>
        </p:spPr>
      </p:sp>
      <p:sp>
        <p:nvSpPr>
          <p:cNvPr id="10" name="Text 8"/>
          <p:cNvSpPr txBox="1"/>
          <p:nvPr/>
        </p:nvSpPr>
        <p:spPr>
          <a:xfrm>
            <a:off x="548640" y="2523744"/>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12</a:t>
            </a:r>
            <a:endParaRPr lang="en-US" sz="1200" dirty="0"/>
          </a:p>
        </p:txBody>
      </p:sp>
      <p:sp>
        <p:nvSpPr>
          <p:cNvPr id="11" name="Text 9"/>
          <p:cNvSpPr txBox="1"/>
          <p:nvPr/>
        </p:nvSpPr>
        <p:spPr>
          <a:xfrm>
            <a:off x="1051560" y="2542032"/>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Scam-intent detection (what is said)</a:t>
            </a:r>
            <a:endParaRPr lang="en-US" sz="1600" dirty="0"/>
          </a:p>
        </p:txBody>
      </p:sp>
      <p:sp>
        <p:nvSpPr>
          <p:cNvPr id="12" name="Shape 10"/>
          <p:cNvSpPr/>
          <p:nvPr/>
        </p:nvSpPr>
        <p:spPr>
          <a:xfrm>
            <a:off x="7223760" y="2569464"/>
            <a:ext cx="1371600" cy="256032"/>
          </a:xfrm>
          <a:prstGeom prst="roundRect">
            <a:avLst>
              <a:gd name="adj" fmla="val 35714"/>
            </a:avLst>
          </a:prstGeom>
          <a:solidFill>
            <a:srgbClr val="C0392B"/>
          </a:solidFill>
          <a:ln w="12700">
            <a:solidFill>
              <a:srgbClr val="C0392B"/>
            </a:solidFill>
            <a:prstDash val="solid"/>
          </a:ln>
        </p:spPr>
      </p:sp>
      <p:sp>
        <p:nvSpPr>
          <p:cNvPr id="13" name="Text 11"/>
          <p:cNvSpPr txBox="1"/>
          <p:nvPr/>
        </p:nvSpPr>
        <p:spPr>
          <a:xfrm>
            <a:off x="7223760" y="2569464"/>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Large</a:t>
            </a:r>
            <a:endParaRPr lang="en-US" sz="1000" dirty="0"/>
          </a:p>
        </p:txBody>
      </p:sp>
      <p:sp>
        <p:nvSpPr>
          <p:cNvPr id="14" name="Shape 12"/>
          <p:cNvSpPr/>
          <p:nvPr/>
        </p:nvSpPr>
        <p:spPr>
          <a:xfrm>
            <a:off x="548640" y="3035808"/>
            <a:ext cx="347472" cy="347472"/>
          </a:xfrm>
          <a:prstGeom prst="ellipse">
            <a:avLst/>
          </a:prstGeom>
          <a:solidFill>
            <a:srgbClr val="233559"/>
          </a:solidFill>
          <a:ln w="12700">
            <a:solidFill>
              <a:srgbClr val="FCA311"/>
            </a:solidFill>
            <a:prstDash val="solid"/>
          </a:ln>
        </p:spPr>
      </p:sp>
      <p:sp>
        <p:nvSpPr>
          <p:cNvPr id="15" name="Text 13"/>
          <p:cNvSpPr txBox="1"/>
          <p:nvPr/>
        </p:nvSpPr>
        <p:spPr>
          <a:xfrm>
            <a:off x="548640" y="3035808"/>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13</a:t>
            </a:r>
            <a:endParaRPr lang="en-US" sz="1200" dirty="0"/>
          </a:p>
        </p:txBody>
      </p:sp>
      <p:sp>
        <p:nvSpPr>
          <p:cNvPr id="16" name="Text 14"/>
          <p:cNvSpPr txBox="1"/>
          <p:nvPr/>
        </p:nvSpPr>
        <p:spPr>
          <a:xfrm>
            <a:off x="1051560" y="3054096"/>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Per-speaker attribution in group calls</a:t>
            </a:r>
            <a:endParaRPr lang="en-US" sz="1600" dirty="0"/>
          </a:p>
        </p:txBody>
      </p:sp>
      <p:sp>
        <p:nvSpPr>
          <p:cNvPr id="17" name="Shape 15"/>
          <p:cNvSpPr/>
          <p:nvPr/>
        </p:nvSpPr>
        <p:spPr>
          <a:xfrm>
            <a:off x="7223760" y="3081528"/>
            <a:ext cx="1371600" cy="256032"/>
          </a:xfrm>
          <a:prstGeom prst="roundRect">
            <a:avLst>
              <a:gd name="adj" fmla="val 35714"/>
            </a:avLst>
          </a:prstGeom>
          <a:solidFill>
            <a:srgbClr val="D98E04"/>
          </a:solidFill>
          <a:ln w="12700">
            <a:solidFill>
              <a:srgbClr val="D98E04"/>
            </a:solidFill>
            <a:prstDash val="solid"/>
          </a:ln>
        </p:spPr>
      </p:sp>
      <p:sp>
        <p:nvSpPr>
          <p:cNvPr id="18" name="Text 16"/>
          <p:cNvSpPr txBox="1"/>
          <p:nvPr/>
        </p:nvSpPr>
        <p:spPr>
          <a:xfrm>
            <a:off x="7223760" y="3081528"/>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9" name="Shape 17"/>
          <p:cNvSpPr/>
          <p:nvPr/>
        </p:nvSpPr>
        <p:spPr>
          <a:xfrm>
            <a:off x="548640" y="3547872"/>
            <a:ext cx="347472" cy="347472"/>
          </a:xfrm>
          <a:prstGeom prst="ellipse">
            <a:avLst/>
          </a:prstGeom>
          <a:solidFill>
            <a:srgbClr val="233559"/>
          </a:solidFill>
          <a:ln w="12700">
            <a:solidFill>
              <a:srgbClr val="FCA311"/>
            </a:solidFill>
            <a:prstDash val="solid"/>
          </a:ln>
        </p:spPr>
      </p:sp>
      <p:sp>
        <p:nvSpPr>
          <p:cNvPr id="20" name="Text 18"/>
          <p:cNvSpPr txBox="1"/>
          <p:nvPr/>
        </p:nvSpPr>
        <p:spPr>
          <a:xfrm>
            <a:off x="548640" y="3547872"/>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14</a:t>
            </a:r>
            <a:endParaRPr lang="en-US" sz="1200" dirty="0"/>
          </a:p>
        </p:txBody>
      </p:sp>
      <p:sp>
        <p:nvSpPr>
          <p:cNvPr id="21" name="Text 19"/>
          <p:cNvSpPr txBox="1"/>
          <p:nvPr/>
        </p:nvSpPr>
        <p:spPr>
          <a:xfrm>
            <a:off x="1051560" y="3566160"/>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Faster first verdict</a:t>
            </a:r>
            <a:endParaRPr lang="en-US" sz="1600" dirty="0"/>
          </a:p>
        </p:txBody>
      </p:sp>
      <p:sp>
        <p:nvSpPr>
          <p:cNvPr id="22" name="Shape 20"/>
          <p:cNvSpPr/>
          <p:nvPr/>
        </p:nvSpPr>
        <p:spPr>
          <a:xfrm>
            <a:off x="7223760" y="3593592"/>
            <a:ext cx="1371600" cy="256032"/>
          </a:xfrm>
          <a:prstGeom prst="roundRect">
            <a:avLst>
              <a:gd name="adj" fmla="val 35714"/>
            </a:avLst>
          </a:prstGeom>
          <a:solidFill>
            <a:srgbClr val="D98E04"/>
          </a:solidFill>
          <a:ln w="12700">
            <a:solidFill>
              <a:srgbClr val="D98E04"/>
            </a:solidFill>
            <a:prstDash val="solid"/>
          </a:ln>
        </p:spPr>
      </p:sp>
      <p:sp>
        <p:nvSpPr>
          <p:cNvPr id="23" name="Text 21"/>
          <p:cNvSpPr txBox="1"/>
          <p:nvPr/>
        </p:nvSpPr>
        <p:spPr>
          <a:xfrm>
            <a:off x="7223760" y="3593592"/>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4" name="Shape 22"/>
          <p:cNvSpPr/>
          <p:nvPr/>
        </p:nvSpPr>
        <p:spPr>
          <a:xfrm>
            <a:off x="548640" y="4059936"/>
            <a:ext cx="347472" cy="347472"/>
          </a:xfrm>
          <a:prstGeom prst="ellipse">
            <a:avLst/>
          </a:prstGeom>
          <a:solidFill>
            <a:srgbClr val="233559"/>
          </a:solidFill>
          <a:ln w="12700">
            <a:solidFill>
              <a:srgbClr val="FCA311"/>
            </a:solidFill>
            <a:prstDash val="solid"/>
          </a:ln>
        </p:spPr>
      </p:sp>
      <p:sp>
        <p:nvSpPr>
          <p:cNvPr id="25" name="Text 23"/>
          <p:cNvSpPr txBox="1"/>
          <p:nvPr/>
        </p:nvSpPr>
        <p:spPr>
          <a:xfrm>
            <a:off x="548640" y="4059936"/>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15</a:t>
            </a:r>
            <a:endParaRPr lang="en-US" sz="1200" dirty="0"/>
          </a:p>
        </p:txBody>
      </p:sp>
      <p:sp>
        <p:nvSpPr>
          <p:cNvPr id="26" name="Text 24"/>
          <p:cNvSpPr txBox="1"/>
          <p:nvPr/>
        </p:nvSpPr>
        <p:spPr>
          <a:xfrm>
            <a:off x="1051560" y="4078224"/>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Audio-visual check for video calls</a:t>
            </a:r>
            <a:endParaRPr lang="en-US" sz="1600" dirty="0"/>
          </a:p>
        </p:txBody>
      </p:sp>
      <p:sp>
        <p:nvSpPr>
          <p:cNvPr id="27" name="Shape 25"/>
          <p:cNvSpPr/>
          <p:nvPr/>
        </p:nvSpPr>
        <p:spPr>
          <a:xfrm>
            <a:off x="7223760" y="4105656"/>
            <a:ext cx="1371600" cy="256032"/>
          </a:xfrm>
          <a:prstGeom prst="roundRect">
            <a:avLst>
              <a:gd name="adj" fmla="val 35714"/>
            </a:avLst>
          </a:prstGeom>
          <a:solidFill>
            <a:srgbClr val="C0392B"/>
          </a:solidFill>
          <a:ln w="12700">
            <a:solidFill>
              <a:srgbClr val="C0392B"/>
            </a:solidFill>
            <a:prstDash val="solid"/>
          </a:ln>
        </p:spPr>
      </p:sp>
      <p:sp>
        <p:nvSpPr>
          <p:cNvPr id="28" name="Text 26"/>
          <p:cNvSpPr txBox="1"/>
          <p:nvPr/>
        </p:nvSpPr>
        <p:spPr>
          <a:xfrm>
            <a:off x="7223760" y="4105656"/>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Large</a:t>
            </a:r>
            <a:endParaRPr lang="en-US" sz="1000" dirty="0"/>
          </a:p>
        </p:txBody>
      </p:sp>
      <p:sp>
        <p:nvSpPr>
          <p:cNvPr id="29" name="Text 27"/>
          <p:cNvSpPr txBox="1"/>
          <p:nvPr/>
        </p:nvSpPr>
        <p:spPr>
          <a:xfrm>
            <a:off x="548640" y="4663440"/>
            <a:ext cx="3657600" cy="228600"/>
          </a:xfrm>
          <a:prstGeom prst="rect">
            <a:avLst/>
          </a:prstGeom>
          <a:noFill/>
          <a:ln/>
        </p:spPr>
        <p:txBody>
          <a:bodyPr wrap="square" lIns="0" tIns="0" rIns="0" bIns="0" rtlCol="0" anchor="t"/>
          <a:lstStyle/>
          <a:p>
            <a:pPr indent="0" marL="0">
              <a:buNone/>
            </a:pPr>
            <a:r>
              <a:rPr lang="en-US" sz="1000" dirty="0">
                <a:solidFill>
                  <a:srgbClr val="8C97AD"/>
                </a:solidFill>
                <a:latin typeface="Calibri" pitchFamily="34" charset="0"/>
                <a:ea typeface="Calibri" pitchFamily="34" charset="-122"/>
                <a:cs typeface="Calibri" pitchFamily="34" charset="-120"/>
              </a:rPr>
              <a:t>Papers [21]-[30]</a:t>
            </a:r>
            <a:endParaRPr lang="en-US" sz="1000" dirty="0"/>
          </a:p>
        </p:txBody>
      </p:sp>
      <p:sp>
        <p:nvSpPr>
          <p:cNvPr id="30" name="Text 28"/>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8C97AD"/>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11</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Challenge-response liveness prompt</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Suryansh  ·  Real-time product &amp; UX</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When the band is Amber, SONIX suggests a quick 'challenge' that clones struggle to perform live.</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SONIX never blocks a call; it flags for a human. But humans spot speech deepfakes only 73% of the time (Mai et al.). PITCH shows that asking the caller to do something hard for real-time cloning (e.g. a specific vocal task) raises machine detection to 88.7% AUROC and gives the human something concrete to do in the Amber zone.</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In the dashboard and extension overlay, show one suggested challenge when the score sits in Amber for N windows; log the post-challenge scores in the audit trail.</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[21]</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PITCH: AI-assisted Tagging of Deepfake Audio Calls using Challenge-Response</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ACM AsiaCCS 2025</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Taxonomy of 20 candidate audio challenges; dataset of 18,600 original and 1.6 million deepfake samples from 100 users. Challenges raise machine detection to 88.7% AUROC; a human-AI 'Deepfake-likely' tagging system reaches 84.5% accuracy.</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[22]</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Warning: Humans Cannot Reliably Detect Speech Deepfakes</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PLOS ONE 2023</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529 listeners in English and Mandarin spotted deepfakes only 73% of the time; showing examples beforehand helped only slightly. Supports giving users an active tool rather than relying on their ears.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12</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Scam-intent detection (what is said)</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Suryansh  ·  Real-time product &amp; UX</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Add a second signal: is the conversation following a fraud script?</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SONIX answers 'is this voice synthetic?'. It cannot catch a real human scammer, and a clone reading a harmless script is less urgent than one asking for an OTP. Combining the voice score with a conversation-level fraud score gives a better alert and fewer false alarms.</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Run on-device ASR on the same windows, feed rolling transcripts to a small LLM/classifier for fraud intent, and fuse with the voice score into the risk band. Keep transcripts in memory only, matching the current no-audio-saved privacy posture.</a:t>
            </a:r>
            <a:endParaRPr lang="en-US" sz="1100" dirty="0"/>
          </a:p>
        </p:txBody>
      </p:sp>
      <p:sp>
        <p:nvSpPr>
          <p:cNvPr id="11" name="Shape 9"/>
          <p:cNvSpPr/>
          <p:nvPr/>
        </p:nvSpPr>
        <p:spPr>
          <a:xfrm>
            <a:off x="457200" y="4553712"/>
            <a:ext cx="1920240" cy="274320"/>
          </a:xfrm>
          <a:prstGeom prst="roundRect">
            <a:avLst>
              <a:gd name="adj" fmla="val 33333"/>
            </a:avLst>
          </a:prstGeom>
          <a:solidFill>
            <a:srgbClr val="C0392B"/>
          </a:solidFill>
          <a:ln w="12700">
            <a:solidFill>
              <a:srgbClr val="C0392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Large: new data/model</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[23]</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"It Warned Me Just at the Right Moment": Exploring LLM-based Real-time Detection of Phone Scams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CHI 2025 Extended Abstracts</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 real-time framework where an LLM reads the live conversation, judges fraudulent intent and warns the user during the call; includes a user study on warning timing.</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[24]</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TeleAntiFraud-28k: An Audio-Text Slow-Thinking Dataset for Telecom Fraud Detection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ACM Multimedia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28,511 audio-text pairs (307+ hours) with fraud-reasoning annotations and a benchmark; built with privacy-preserving TTS regeneration of real call transcripts.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13</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Per-speaker attribution in group calls</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Suryansh  ·  Real-time product &amp; UX</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Say WHO in the Meet call sounds cloned, not just that the mixed audio does.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Listed as a standing limitation in FEATURES.txt section 7: the extension captures the mixed tab audio, so with three people speaking a score belongs to a 4 s window, not a person. Diarisation fixes that.</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Run pyannote diarisation on the incoming stream, route each speaker's segments through the existing WindowScorer, and show a per-speaker band in the overlay.</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[25]</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pyannote.audio 2.1 Speaker Diarization Pipeline: Principle, Benchmark, and Recipe</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2023</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Open-source pipeline: local segmentation on sliding windows, speaker embeddings, then global clustering; ships pretrained and a recipe for adapting to your own data.</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[26]</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Zero-Shot Temporal Localisation of Audio Deepfakes in Multi-Speaker Conversations</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 (preprint)</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Training-free pipeline that wraps a frozen binary detector to localise fake speech in multi-speaker conversations, using a two-threshold hysteresis decoder much like SONIX's. Argues EER is ill-posed once one file mixes real and fake speech.</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14</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Faster first verdict</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Suryansh  ·  Real-time product &amp; UX</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Give a first signal at the greeting, not after 4 seconds.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FEATURES.txt section 7: a 4 s window means a 4 s minimum latency to the first verdict. Scam calls hook the victim in the first sentence. A short-window model can give a provisional early score that the 4 s model then confirms.</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Train a second head on 1-2 s windows (the embeddings pipeline already supports re-windowing), show its output as a provisional marker until the first 4 s score lands, and measure early-decision error separately.</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[27]</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Audio Deepfake Detection at the First Greeting: "Hi!"</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 (preprint)</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Targets ultra-short inputs (0.5-2.0 s) under communication degradations, i.e. a scammer's opening 'Hi'. Its S-MGAA model beats nine baselines while staying lightweight.</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[28]</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Fake-Mamba: Real-Time Speech Deepfake Detection Using Bidirectional Mamba as Self-Attention's Alternative</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 ASRU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XLSR front-end (same family as SONIX) with bidirectional Mamba encoders; reports 0.97% / 1.74% / 5.85% EER on ASVspoof21 LA / 21 DF / In-the-Wild while keeping real-time inference across utterance lengths.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15</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Audio-visual check for video calls</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Suryansh  ·  Real-time product &amp; UX</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On Meet, also check whether the lips match the voice.</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The Chrome extension already sits inside Google Meet, where video frames are available. Video-call fraud often combines a cloned voice with a face swap or lip-sync. Lip-audio mismatch is evidence that audio alone cannot see.</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Prototype an AV-HuBERT-based lip-sync consistency score on the active speaker's tile and show it next to the audio band. Evaluate on HAV-DF, which is Hindi.</a:t>
            </a:r>
            <a:endParaRPr lang="en-US" sz="1100" dirty="0"/>
          </a:p>
        </p:txBody>
      </p:sp>
      <p:sp>
        <p:nvSpPr>
          <p:cNvPr id="11" name="Shape 9"/>
          <p:cNvSpPr/>
          <p:nvPr/>
        </p:nvSpPr>
        <p:spPr>
          <a:xfrm>
            <a:off x="457200" y="4553712"/>
            <a:ext cx="1920240" cy="274320"/>
          </a:xfrm>
          <a:prstGeom prst="roundRect">
            <a:avLst>
              <a:gd name="adj" fmla="val 33333"/>
            </a:avLst>
          </a:prstGeom>
          <a:solidFill>
            <a:srgbClr val="C0392B"/>
          </a:solidFill>
          <a:ln w="12700">
            <a:solidFill>
              <a:srgbClr val="C0392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Large: new data/model</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[29]</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AV-Lip-Sync+: Leveraging AV-HuBERT to Exploit Multimodal Inconsistency for Deepfake Detection of Frontal Face Videos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2023</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Uses self-supervised AV-HuBERT features to detect inconsistency between lip movement and audio in face videos.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[30]</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Hindi audio-video-Deepfake (HAV-DF): A Hindi Language-based Audio-video Deepfake Dataset</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2024</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First Hindi audio-video deepfake dataset, generated with face-swap, lip-sync and voice-cloning methods; directly relevant to an Indian deployment.</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20040"/>
          </a:xfrm>
          <a:prstGeom prst="rect">
            <a:avLst/>
          </a:prstGeom>
          <a:noFill/>
          <a:ln/>
        </p:spPr>
        <p:txBody>
          <a:bodyPr wrap="square" lIns="0" tIns="0" rIns="0" bIns="0" rtlCol="0" anchor="t"/>
          <a:lstStyle/>
          <a:p>
            <a:pPr indent="0" marL="0">
              <a:buNone/>
            </a:pPr>
            <a:r>
              <a:rPr lang="en-US" sz="1300" b="1" spc="200" kern="0" dirty="0">
                <a:solidFill>
                  <a:srgbClr val="FCA311"/>
                </a:solidFill>
                <a:latin typeface="Calibri" pitchFamily="34" charset="0"/>
                <a:ea typeface="Calibri" pitchFamily="34" charset="-122"/>
                <a:cs typeface="Calibri" pitchFamily="34" charset="-120"/>
              </a:rPr>
              <a:t>DATA, INDIC LANGUAGES &amp; GENERALISATION</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Navya</a:t>
            </a:r>
            <a:endParaRPr lang="en-US" sz="4400" dirty="0"/>
          </a:p>
        </p:txBody>
      </p:sp>
      <p:sp>
        <p:nvSpPr>
          <p:cNvPr id="4" name="Shape 2"/>
          <p:cNvSpPr/>
          <p:nvPr/>
        </p:nvSpPr>
        <p:spPr>
          <a:xfrm>
            <a:off x="548640" y="2011680"/>
            <a:ext cx="347472" cy="347472"/>
          </a:xfrm>
          <a:prstGeom prst="ellipse">
            <a:avLst/>
          </a:prstGeom>
          <a:solidFill>
            <a:srgbClr val="233559"/>
          </a:solidFill>
          <a:ln w="12700">
            <a:solidFill>
              <a:srgbClr val="FCA311"/>
            </a:solidFill>
            <a:prstDash val="solid"/>
          </a:ln>
        </p:spPr>
      </p:sp>
      <p:sp>
        <p:nvSpPr>
          <p:cNvPr id="5" name="Text 3"/>
          <p:cNvSpPr txBox="1"/>
          <p:nvPr/>
        </p:nvSpPr>
        <p:spPr>
          <a:xfrm>
            <a:off x="548640" y="2011680"/>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16</a:t>
            </a:r>
            <a:endParaRPr lang="en-US" sz="1200" dirty="0"/>
          </a:p>
        </p:txBody>
      </p:sp>
      <p:sp>
        <p:nvSpPr>
          <p:cNvPr id="6" name="Text 4"/>
          <p:cNvSpPr txBox="1"/>
          <p:nvPr/>
        </p:nvSpPr>
        <p:spPr>
          <a:xfrm>
            <a:off x="1051560" y="2029968"/>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Code-switching (Hinglish) robustness</a:t>
            </a:r>
            <a:endParaRPr lang="en-US" sz="1600" dirty="0"/>
          </a:p>
        </p:txBody>
      </p:sp>
      <p:sp>
        <p:nvSpPr>
          <p:cNvPr id="7" name="Shape 5"/>
          <p:cNvSpPr/>
          <p:nvPr/>
        </p:nvSpPr>
        <p:spPr>
          <a:xfrm>
            <a:off x="7223760" y="2057400"/>
            <a:ext cx="1371600" cy="256032"/>
          </a:xfrm>
          <a:prstGeom prst="roundRect">
            <a:avLst>
              <a:gd name="adj" fmla="val 35714"/>
            </a:avLst>
          </a:prstGeom>
          <a:solidFill>
            <a:srgbClr val="D98E04"/>
          </a:solidFill>
          <a:ln w="12700">
            <a:solidFill>
              <a:srgbClr val="D98E04"/>
            </a:solidFill>
            <a:prstDash val="solid"/>
          </a:ln>
        </p:spPr>
      </p:sp>
      <p:sp>
        <p:nvSpPr>
          <p:cNvPr id="8" name="Text 6"/>
          <p:cNvSpPr txBox="1"/>
          <p:nvPr/>
        </p:nvSpPr>
        <p:spPr>
          <a:xfrm>
            <a:off x="7223760" y="205740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9" name="Shape 7"/>
          <p:cNvSpPr/>
          <p:nvPr/>
        </p:nvSpPr>
        <p:spPr>
          <a:xfrm>
            <a:off x="548640" y="2523744"/>
            <a:ext cx="347472" cy="347472"/>
          </a:xfrm>
          <a:prstGeom prst="ellipse">
            <a:avLst/>
          </a:prstGeom>
          <a:solidFill>
            <a:srgbClr val="233559"/>
          </a:solidFill>
          <a:ln w="12700">
            <a:solidFill>
              <a:srgbClr val="FCA311"/>
            </a:solidFill>
            <a:prstDash val="solid"/>
          </a:ln>
        </p:spPr>
      </p:sp>
      <p:sp>
        <p:nvSpPr>
          <p:cNvPr id="10" name="Text 8"/>
          <p:cNvSpPr txBox="1"/>
          <p:nvPr/>
        </p:nvSpPr>
        <p:spPr>
          <a:xfrm>
            <a:off x="548640" y="2523744"/>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17</a:t>
            </a:r>
            <a:endParaRPr lang="en-US" sz="1200" dirty="0"/>
          </a:p>
        </p:txBody>
      </p:sp>
      <p:sp>
        <p:nvSpPr>
          <p:cNvPr id="11" name="Text 9"/>
          <p:cNvSpPr txBox="1"/>
          <p:nvPr/>
        </p:nvSpPr>
        <p:spPr>
          <a:xfrm>
            <a:off x="1051560" y="2542032"/>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Vocoded Indic spoofs from real Indic speech</a:t>
            </a:r>
            <a:endParaRPr lang="en-US" sz="1600" dirty="0"/>
          </a:p>
        </p:txBody>
      </p:sp>
      <p:sp>
        <p:nvSpPr>
          <p:cNvPr id="12" name="Shape 10"/>
          <p:cNvSpPr/>
          <p:nvPr/>
        </p:nvSpPr>
        <p:spPr>
          <a:xfrm>
            <a:off x="7223760" y="2569464"/>
            <a:ext cx="1371600" cy="256032"/>
          </a:xfrm>
          <a:prstGeom prst="roundRect">
            <a:avLst>
              <a:gd name="adj" fmla="val 35714"/>
            </a:avLst>
          </a:prstGeom>
          <a:solidFill>
            <a:srgbClr val="D98E04"/>
          </a:solidFill>
          <a:ln w="12700">
            <a:solidFill>
              <a:srgbClr val="D98E04"/>
            </a:solidFill>
            <a:prstDash val="solid"/>
          </a:ln>
        </p:spPr>
      </p:sp>
      <p:sp>
        <p:nvSpPr>
          <p:cNvPr id="13" name="Text 11"/>
          <p:cNvSpPr txBox="1"/>
          <p:nvPr/>
        </p:nvSpPr>
        <p:spPr>
          <a:xfrm>
            <a:off x="7223760" y="2569464"/>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4" name="Shape 12"/>
          <p:cNvSpPr/>
          <p:nvPr/>
        </p:nvSpPr>
        <p:spPr>
          <a:xfrm>
            <a:off x="548640" y="3035808"/>
            <a:ext cx="347472" cy="347472"/>
          </a:xfrm>
          <a:prstGeom prst="ellipse">
            <a:avLst/>
          </a:prstGeom>
          <a:solidFill>
            <a:srgbClr val="233559"/>
          </a:solidFill>
          <a:ln w="12700">
            <a:solidFill>
              <a:srgbClr val="FCA311"/>
            </a:solidFill>
            <a:prstDash val="solid"/>
          </a:ln>
        </p:spPr>
      </p:sp>
      <p:sp>
        <p:nvSpPr>
          <p:cNvPr id="15" name="Text 13"/>
          <p:cNvSpPr txBox="1"/>
          <p:nvPr/>
        </p:nvSpPr>
        <p:spPr>
          <a:xfrm>
            <a:off x="548640" y="3035808"/>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18</a:t>
            </a:r>
            <a:endParaRPr lang="en-US" sz="1200" dirty="0"/>
          </a:p>
        </p:txBody>
      </p:sp>
      <p:sp>
        <p:nvSpPr>
          <p:cNvPr id="16" name="Text 14"/>
          <p:cNvSpPr txBox="1"/>
          <p:nvPr/>
        </p:nvSpPr>
        <p:spPr>
          <a:xfrm>
            <a:off x="1051560" y="3054096"/>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Unsupervised / test-time domain adaptation</a:t>
            </a:r>
            <a:endParaRPr lang="en-US" sz="1600" dirty="0"/>
          </a:p>
        </p:txBody>
      </p:sp>
      <p:sp>
        <p:nvSpPr>
          <p:cNvPr id="17" name="Shape 15"/>
          <p:cNvSpPr/>
          <p:nvPr/>
        </p:nvSpPr>
        <p:spPr>
          <a:xfrm>
            <a:off x="7223760" y="3081528"/>
            <a:ext cx="1371600" cy="256032"/>
          </a:xfrm>
          <a:prstGeom prst="roundRect">
            <a:avLst>
              <a:gd name="adj" fmla="val 35714"/>
            </a:avLst>
          </a:prstGeom>
          <a:solidFill>
            <a:srgbClr val="D98E04"/>
          </a:solidFill>
          <a:ln w="12700">
            <a:solidFill>
              <a:srgbClr val="D98E04"/>
            </a:solidFill>
            <a:prstDash val="solid"/>
          </a:ln>
        </p:spPr>
      </p:sp>
      <p:sp>
        <p:nvSpPr>
          <p:cNvPr id="18" name="Text 16"/>
          <p:cNvSpPr txBox="1"/>
          <p:nvPr/>
        </p:nvSpPr>
        <p:spPr>
          <a:xfrm>
            <a:off x="7223760" y="3081528"/>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9" name="Shape 17"/>
          <p:cNvSpPr/>
          <p:nvPr/>
        </p:nvSpPr>
        <p:spPr>
          <a:xfrm>
            <a:off x="548640" y="3547872"/>
            <a:ext cx="347472" cy="347472"/>
          </a:xfrm>
          <a:prstGeom prst="ellipse">
            <a:avLst/>
          </a:prstGeom>
          <a:solidFill>
            <a:srgbClr val="233559"/>
          </a:solidFill>
          <a:ln w="12700">
            <a:solidFill>
              <a:srgbClr val="FCA311"/>
            </a:solidFill>
            <a:prstDash val="solid"/>
          </a:ln>
        </p:spPr>
      </p:sp>
      <p:sp>
        <p:nvSpPr>
          <p:cNvPr id="20" name="Text 18"/>
          <p:cNvSpPr txBox="1"/>
          <p:nvPr/>
        </p:nvSpPr>
        <p:spPr>
          <a:xfrm>
            <a:off x="548640" y="3547872"/>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19</a:t>
            </a:r>
            <a:endParaRPr lang="en-US" sz="1200" dirty="0"/>
          </a:p>
        </p:txBody>
      </p:sp>
      <p:sp>
        <p:nvSpPr>
          <p:cNvPr id="21" name="Text 19"/>
          <p:cNvSpPr txBox="1"/>
          <p:nvPr/>
        </p:nvSpPr>
        <p:spPr>
          <a:xfrm>
            <a:off x="1051560" y="3566160"/>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Few-shot adaptation to a new cloning tool</a:t>
            </a:r>
            <a:endParaRPr lang="en-US" sz="1600" dirty="0"/>
          </a:p>
        </p:txBody>
      </p:sp>
      <p:sp>
        <p:nvSpPr>
          <p:cNvPr id="22" name="Shape 20"/>
          <p:cNvSpPr/>
          <p:nvPr/>
        </p:nvSpPr>
        <p:spPr>
          <a:xfrm>
            <a:off x="7223760" y="3593592"/>
            <a:ext cx="1371600" cy="256032"/>
          </a:xfrm>
          <a:prstGeom prst="roundRect">
            <a:avLst>
              <a:gd name="adj" fmla="val 35714"/>
            </a:avLst>
          </a:prstGeom>
          <a:solidFill>
            <a:srgbClr val="2E9E5B"/>
          </a:solidFill>
          <a:ln w="12700">
            <a:solidFill>
              <a:srgbClr val="2E9E5B"/>
            </a:solidFill>
            <a:prstDash val="solid"/>
          </a:ln>
        </p:spPr>
      </p:sp>
      <p:sp>
        <p:nvSpPr>
          <p:cNvPr id="23" name="Text 21"/>
          <p:cNvSpPr txBox="1"/>
          <p:nvPr/>
        </p:nvSpPr>
        <p:spPr>
          <a:xfrm>
            <a:off x="7223760" y="3593592"/>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24" name="Shape 22"/>
          <p:cNvSpPr/>
          <p:nvPr/>
        </p:nvSpPr>
        <p:spPr>
          <a:xfrm>
            <a:off x="548640" y="4059936"/>
            <a:ext cx="347472" cy="347472"/>
          </a:xfrm>
          <a:prstGeom prst="ellipse">
            <a:avLst/>
          </a:prstGeom>
          <a:solidFill>
            <a:srgbClr val="233559"/>
          </a:solidFill>
          <a:ln w="12700">
            <a:solidFill>
              <a:srgbClr val="FCA311"/>
            </a:solidFill>
            <a:prstDash val="solid"/>
          </a:ln>
        </p:spPr>
      </p:sp>
      <p:sp>
        <p:nvSpPr>
          <p:cNvPr id="25" name="Text 23"/>
          <p:cNvSpPr txBox="1"/>
          <p:nvPr/>
        </p:nvSpPr>
        <p:spPr>
          <a:xfrm>
            <a:off x="548640" y="4059936"/>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20</a:t>
            </a:r>
            <a:endParaRPr lang="en-US" sz="1200" dirty="0"/>
          </a:p>
        </p:txBody>
      </p:sp>
      <p:sp>
        <p:nvSpPr>
          <p:cNvPr id="26" name="Text 24"/>
          <p:cNvSpPr txBox="1"/>
          <p:nvPr/>
        </p:nvSpPr>
        <p:spPr>
          <a:xfrm>
            <a:off x="1051560" y="4078224"/>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Emotion &amp; prosody cues</a:t>
            </a:r>
            <a:endParaRPr lang="en-US" sz="1600" dirty="0"/>
          </a:p>
        </p:txBody>
      </p:sp>
      <p:sp>
        <p:nvSpPr>
          <p:cNvPr id="27" name="Shape 25"/>
          <p:cNvSpPr/>
          <p:nvPr/>
        </p:nvSpPr>
        <p:spPr>
          <a:xfrm>
            <a:off x="7223760" y="4105656"/>
            <a:ext cx="1371600" cy="256032"/>
          </a:xfrm>
          <a:prstGeom prst="roundRect">
            <a:avLst>
              <a:gd name="adj" fmla="val 35714"/>
            </a:avLst>
          </a:prstGeom>
          <a:solidFill>
            <a:srgbClr val="D98E04"/>
          </a:solidFill>
          <a:ln w="12700">
            <a:solidFill>
              <a:srgbClr val="D98E04"/>
            </a:solidFill>
            <a:prstDash val="solid"/>
          </a:ln>
        </p:spPr>
      </p:sp>
      <p:sp>
        <p:nvSpPr>
          <p:cNvPr id="28" name="Text 26"/>
          <p:cNvSpPr txBox="1"/>
          <p:nvPr/>
        </p:nvSpPr>
        <p:spPr>
          <a:xfrm>
            <a:off x="7223760" y="4105656"/>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txBox="1"/>
          <p:nvPr/>
        </p:nvSpPr>
        <p:spPr>
          <a:xfrm>
            <a:off x="548640" y="4663440"/>
            <a:ext cx="3657600" cy="228600"/>
          </a:xfrm>
          <a:prstGeom prst="rect">
            <a:avLst/>
          </a:prstGeom>
          <a:noFill/>
          <a:ln/>
        </p:spPr>
        <p:txBody>
          <a:bodyPr wrap="square" lIns="0" tIns="0" rIns="0" bIns="0" rtlCol="0" anchor="t"/>
          <a:lstStyle/>
          <a:p>
            <a:pPr indent="0" marL="0">
              <a:buNone/>
            </a:pPr>
            <a:r>
              <a:rPr lang="en-US" sz="1000" dirty="0">
                <a:solidFill>
                  <a:srgbClr val="8C97AD"/>
                </a:solidFill>
                <a:latin typeface="Calibri" pitchFamily="34" charset="0"/>
                <a:ea typeface="Calibri" pitchFamily="34" charset="-122"/>
                <a:cs typeface="Calibri" pitchFamily="34" charset="-120"/>
              </a:rPr>
              <a:t>Papers [31]-[40]</a:t>
            </a:r>
            <a:endParaRPr lang="en-US" sz="1000" dirty="0"/>
          </a:p>
        </p:txBody>
      </p:sp>
      <p:sp>
        <p:nvSpPr>
          <p:cNvPr id="30" name="Text 28"/>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8C97AD"/>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16</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Code-switching (Hinglish) robustness</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Navya  ·  Data, Indic languages &amp; generalisation</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Make sure SONIX works when callers mix Hindi and English mid-sentence.</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Most Indian calls are code-switched, but every SONIX training set is monolingual. The v4 probe found a 12-way language classifier at 99.33% inside IndicSynth, i.e. the embedding is dominated by language. ArEnAV shows detectors dropping 35+ points on code-switched fakes.</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Build a small Hinglish test set (real volunteers + clones of the same sentences), report it as its own row, and use ACCENT-style accented TTS data to widen language coverage in training.</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[31]</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Tell me Habibi, is it Real or Fake?</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ICLR 2026</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ArEnAV: first large Arabic-English audio-visual deepfake set with intra-utterance code-switching (387k videos, 765+ hours). State-of-the-art detectors drop 35+ percentage points versus monolingual benchmarks.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[32]</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Towards Quantifying and Reducing Language Mismatch Effects in Cross-Lingual Speech Anti-Spoofing</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 SLT 2024</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English-trained detectors degrade on other languages. ACCENT (accent-based data expansion via TTS) reduces the language-mismatch effect by over 15% across 12 languages.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17</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Vocoded Indic spoofs from real Indic speech</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Navya  ·  Data, Indic languages &amp; generalisation</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Create matched fake Indic audio cheaply by re-synthesising real Indic recordings.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V4_DATA_STATUS: zero Indic voice-conversion spoof and very little Indic spoof overall. Probe B showed a 100% corpus classifier, meaning real and fake come from different corpora and the model can learn 'which corpus' instead of 'is it fake'. Copy-synthesis gives a fake twin of every real clip: same speaker, same words, same channel, only the vocoder differs.</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Run IndicVoices real audio through 3-4 open neural vocoders to create paired spoofs, add them as their own generator family, and use a paired contrastive loss.</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[33]</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Spoofed Training Data for Speech Spoofing Countermeasure Can Be Efficiently Created Using Neural Vocoders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2023</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Copy-synthesis of bona fide speech through neural vocoders yields usable spoofed training data; adds a contrastive loss over real/vocoded pairs. Recommends fine-tuning vocoders on target-domain bona fide data.</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[34]</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Can Large-Scale Vocoded Spoofed Data Improve Speech Spoofing Countermeasure with a Self-Supervised Front End?</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2024</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9,000+ hours of vocoded VoxCeleb2 data used to continue training the SSL front-end; improves hard unseen test sets including ASVspoof 2019 LA, WaveFake and In-the-Wild.</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18</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Unsupervised / test-time domain adaptation</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Navya  ·  Data, Indic languages &amp; generalisation</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Adapt SONIX to a new user's phone and channel using unlabelled audio.</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Probe C: a spoof probe trained on English scores AUC 0.52 on Indic, i.e. no transfer. We will never have labelled data for every phone, network and language, but a deployment does see plenty of unlabelled real speech.</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Add a small adaptation step (prompt parameters or feature-statistics alignment) that updates on unlabelled target audio, and evaluate on the IndicVoices holdout without touching its labels.</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[35]</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Prompt Tuning for Audio Deepfake Detection: Computationally Efficient Test-time Domain Adaptation with Limited Target Dataset</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2024</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Adds a few trainable prompt tokens to a pre-trained transformer detector; bridges source-target gaps with small target sets and low compute, and plugs into existing models.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[36]</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Unsupervised Domain Adaptation for Audio Deepfake Detection with Modular Statistical Transformations</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 (preprint)</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Treats deployment as unsupervised domain adaptation: unlabelled target-platform audio is used only for distribution alignment, not supervised training.</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19</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Few-shot adaptation to a new cloning tool</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Navya  ·  Data, Indic languages &amp; generalisation</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Give SONIX 5-10 clips of a new tool and it learns to catch it.</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When a new cloner goes viral, we can generate a handful of clips ourselves within an hour, but not thousands. Few-shot adaptation turns that into protection the same day, and also allows 'personalised' detection for one protected person's voice.</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Put a Gaussian-process classifier (or meta-learned LoRA) on top of the existing embeddings, and test with leave-one-generator-out on the team's own XTTS/OpenVoice clones.</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[37]</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Few-Shot Speech Deepfake Detection Adaptation with Gaussian Processes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2025</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ADD-GP: a deep embedding model plus a Gaussian-process classifier adapts to unseen TTS models from few samples, with one-shot adaptability and personalised detection.</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[38]</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Generalizable Speech Deepfake Detection via Meta-Learned LoRA</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Meta-learns LoRA adapters so the detector generalises to unseen attacks with few trainable parameters.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20</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Emotion &amp; prosody cues</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Navya  ·  Data, Indic languages &amp; generalisation</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Use how naturally the voice rises, falls and emotes, which is harder to fake than timbre.</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The v4 probes show the XLS-R vector is dominated by language and corpus. Prosody and emotion are higher-level cues that cloners still get wrong and that carry across languages better than phonetic content, which suits a multilingual Indian deployment.</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Extract speech-emotion and prosody embeddings (pretrained SER / prosody encoders) for each window and fuse them with the XLS-R embedding in the head; report per-language EER.</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[39]</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Deepfake Speech Detection Through Emotion Recognition: A Semantic Approach</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2022</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Uses features from a speech-emotion-recognition system to detect deepfakes; robust in cross-dataset tests, beating the baseline on multiple datasets.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[40]</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Combining Automatic Speaker Verification and Prosody Analysis for Synthetic Speech Detection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ICPR 2022 Workshops</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Fuses speaker embeddings with prosody embeddings (rhythm, pitch, accent) in a binary classifier; generalises across datasets and is robust to audio compression.</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20040"/>
          </a:xfrm>
          <a:prstGeom prst="rect">
            <a:avLst/>
          </a:prstGeom>
          <a:noFill/>
          <a:ln/>
        </p:spPr>
        <p:txBody>
          <a:bodyPr wrap="square" lIns="0" tIns="0" rIns="0" bIns="0" rtlCol="0" anchor="t"/>
          <a:lstStyle/>
          <a:p>
            <a:pPr indent="0" marL="0">
              <a:buNone/>
            </a:pPr>
            <a:r>
              <a:rPr lang="en-US" sz="1300" b="1" spc="200" kern="0" dirty="0">
                <a:solidFill>
                  <a:srgbClr val="FCA311"/>
                </a:solidFill>
                <a:latin typeface="Calibri" pitchFamily="34" charset="0"/>
                <a:ea typeface="Calibri" pitchFamily="34" charset="-122"/>
                <a:cs typeface="Calibri" pitchFamily="34" charset="-120"/>
              </a:rPr>
              <a:t>SECURITY, IDENTITY &amp; PROVENANCE</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Akshat</a:t>
            </a:r>
            <a:endParaRPr lang="en-US" sz="4400" dirty="0"/>
          </a:p>
        </p:txBody>
      </p:sp>
      <p:sp>
        <p:nvSpPr>
          <p:cNvPr id="4" name="Shape 2"/>
          <p:cNvSpPr/>
          <p:nvPr/>
        </p:nvSpPr>
        <p:spPr>
          <a:xfrm>
            <a:off x="548640" y="2011680"/>
            <a:ext cx="347472" cy="347472"/>
          </a:xfrm>
          <a:prstGeom prst="ellipse">
            <a:avLst/>
          </a:prstGeom>
          <a:solidFill>
            <a:srgbClr val="233559"/>
          </a:solidFill>
          <a:ln w="12700">
            <a:solidFill>
              <a:srgbClr val="FCA311"/>
            </a:solidFill>
            <a:prstDash val="solid"/>
          </a:ln>
        </p:spPr>
      </p:sp>
      <p:sp>
        <p:nvSpPr>
          <p:cNvPr id="5" name="Text 3"/>
          <p:cNvSpPr txBox="1"/>
          <p:nvPr/>
        </p:nvSpPr>
        <p:spPr>
          <a:xfrm>
            <a:off x="548640" y="2011680"/>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21</a:t>
            </a:r>
            <a:endParaRPr lang="en-US" sz="1200" dirty="0"/>
          </a:p>
        </p:txBody>
      </p:sp>
      <p:sp>
        <p:nvSpPr>
          <p:cNvPr id="6" name="Text 4"/>
          <p:cNvSpPr txBox="1"/>
          <p:nvPr/>
        </p:nvSpPr>
        <p:spPr>
          <a:xfrm>
            <a:off x="1051560" y="2029968"/>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Trusted-contact voiceprint (SASV)</a:t>
            </a:r>
            <a:endParaRPr lang="en-US" sz="1600" dirty="0"/>
          </a:p>
        </p:txBody>
      </p:sp>
      <p:sp>
        <p:nvSpPr>
          <p:cNvPr id="7" name="Shape 5"/>
          <p:cNvSpPr/>
          <p:nvPr/>
        </p:nvSpPr>
        <p:spPr>
          <a:xfrm>
            <a:off x="7223760" y="2057400"/>
            <a:ext cx="1371600" cy="256032"/>
          </a:xfrm>
          <a:prstGeom prst="roundRect">
            <a:avLst>
              <a:gd name="adj" fmla="val 35714"/>
            </a:avLst>
          </a:prstGeom>
          <a:solidFill>
            <a:srgbClr val="D98E04"/>
          </a:solidFill>
          <a:ln w="12700">
            <a:solidFill>
              <a:srgbClr val="D98E04"/>
            </a:solidFill>
            <a:prstDash val="solid"/>
          </a:ln>
        </p:spPr>
      </p:sp>
      <p:sp>
        <p:nvSpPr>
          <p:cNvPr id="8" name="Text 6"/>
          <p:cNvSpPr txBox="1"/>
          <p:nvPr/>
        </p:nvSpPr>
        <p:spPr>
          <a:xfrm>
            <a:off x="7223760" y="205740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9" name="Shape 7"/>
          <p:cNvSpPr/>
          <p:nvPr/>
        </p:nvSpPr>
        <p:spPr>
          <a:xfrm>
            <a:off x="548640" y="2523744"/>
            <a:ext cx="347472" cy="347472"/>
          </a:xfrm>
          <a:prstGeom prst="ellipse">
            <a:avLst/>
          </a:prstGeom>
          <a:solidFill>
            <a:srgbClr val="233559"/>
          </a:solidFill>
          <a:ln w="12700">
            <a:solidFill>
              <a:srgbClr val="FCA311"/>
            </a:solidFill>
            <a:prstDash val="solid"/>
          </a:ln>
        </p:spPr>
      </p:sp>
      <p:sp>
        <p:nvSpPr>
          <p:cNvPr id="10" name="Text 8"/>
          <p:cNvSpPr txBox="1"/>
          <p:nvPr/>
        </p:nvSpPr>
        <p:spPr>
          <a:xfrm>
            <a:off x="548640" y="2523744"/>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22</a:t>
            </a:r>
            <a:endParaRPr lang="en-US" sz="1200" dirty="0"/>
          </a:p>
        </p:txBody>
      </p:sp>
      <p:sp>
        <p:nvSpPr>
          <p:cNvPr id="11" name="Text 9"/>
          <p:cNvSpPr txBox="1"/>
          <p:nvPr/>
        </p:nvSpPr>
        <p:spPr>
          <a:xfrm>
            <a:off x="1051560" y="2542032"/>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Watermark detection</a:t>
            </a:r>
            <a:endParaRPr lang="en-US" sz="1600" dirty="0"/>
          </a:p>
        </p:txBody>
      </p:sp>
      <p:sp>
        <p:nvSpPr>
          <p:cNvPr id="12" name="Shape 10"/>
          <p:cNvSpPr/>
          <p:nvPr/>
        </p:nvSpPr>
        <p:spPr>
          <a:xfrm>
            <a:off x="7223760" y="2569464"/>
            <a:ext cx="1371600" cy="256032"/>
          </a:xfrm>
          <a:prstGeom prst="roundRect">
            <a:avLst>
              <a:gd name="adj" fmla="val 35714"/>
            </a:avLst>
          </a:prstGeom>
          <a:solidFill>
            <a:srgbClr val="2E9E5B"/>
          </a:solidFill>
          <a:ln w="12700">
            <a:solidFill>
              <a:srgbClr val="2E9E5B"/>
            </a:solidFill>
            <a:prstDash val="solid"/>
          </a:ln>
        </p:spPr>
      </p:sp>
      <p:sp>
        <p:nvSpPr>
          <p:cNvPr id="13" name="Text 11"/>
          <p:cNvSpPr txBox="1"/>
          <p:nvPr/>
        </p:nvSpPr>
        <p:spPr>
          <a:xfrm>
            <a:off x="7223760" y="2569464"/>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14" name="Shape 12"/>
          <p:cNvSpPr/>
          <p:nvPr/>
        </p:nvSpPr>
        <p:spPr>
          <a:xfrm>
            <a:off x="548640" y="3035808"/>
            <a:ext cx="347472" cy="347472"/>
          </a:xfrm>
          <a:prstGeom prst="ellipse">
            <a:avLst/>
          </a:prstGeom>
          <a:solidFill>
            <a:srgbClr val="233559"/>
          </a:solidFill>
          <a:ln w="12700">
            <a:solidFill>
              <a:srgbClr val="FCA311"/>
            </a:solidFill>
            <a:prstDash val="solid"/>
          </a:ln>
        </p:spPr>
      </p:sp>
      <p:sp>
        <p:nvSpPr>
          <p:cNvPr id="15" name="Text 13"/>
          <p:cNvSpPr txBox="1"/>
          <p:nvPr/>
        </p:nvSpPr>
        <p:spPr>
          <a:xfrm>
            <a:off x="548640" y="3035808"/>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23</a:t>
            </a:r>
            <a:endParaRPr lang="en-US" sz="1200" dirty="0"/>
          </a:p>
        </p:txBody>
      </p:sp>
      <p:sp>
        <p:nvSpPr>
          <p:cNvPr id="16" name="Text 14"/>
          <p:cNvSpPr txBox="1"/>
          <p:nvPr/>
        </p:nvSpPr>
        <p:spPr>
          <a:xfrm>
            <a:off x="1051560" y="3054096"/>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Protect-my-voice (anti-cloning shield)</a:t>
            </a:r>
            <a:endParaRPr lang="en-US" sz="1600" dirty="0"/>
          </a:p>
        </p:txBody>
      </p:sp>
      <p:sp>
        <p:nvSpPr>
          <p:cNvPr id="17" name="Shape 15"/>
          <p:cNvSpPr/>
          <p:nvPr/>
        </p:nvSpPr>
        <p:spPr>
          <a:xfrm>
            <a:off x="7223760" y="3081528"/>
            <a:ext cx="1371600" cy="256032"/>
          </a:xfrm>
          <a:prstGeom prst="roundRect">
            <a:avLst>
              <a:gd name="adj" fmla="val 35714"/>
            </a:avLst>
          </a:prstGeom>
          <a:solidFill>
            <a:srgbClr val="D98E04"/>
          </a:solidFill>
          <a:ln w="12700">
            <a:solidFill>
              <a:srgbClr val="D98E04"/>
            </a:solidFill>
            <a:prstDash val="solid"/>
          </a:ln>
        </p:spPr>
      </p:sp>
      <p:sp>
        <p:nvSpPr>
          <p:cNvPr id="18" name="Text 16"/>
          <p:cNvSpPr txBox="1"/>
          <p:nvPr/>
        </p:nvSpPr>
        <p:spPr>
          <a:xfrm>
            <a:off x="7223760" y="3081528"/>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9" name="Shape 17"/>
          <p:cNvSpPr/>
          <p:nvPr/>
        </p:nvSpPr>
        <p:spPr>
          <a:xfrm>
            <a:off x="548640" y="3547872"/>
            <a:ext cx="347472" cy="347472"/>
          </a:xfrm>
          <a:prstGeom prst="ellipse">
            <a:avLst/>
          </a:prstGeom>
          <a:solidFill>
            <a:srgbClr val="233559"/>
          </a:solidFill>
          <a:ln w="12700">
            <a:solidFill>
              <a:srgbClr val="FCA311"/>
            </a:solidFill>
            <a:prstDash val="solid"/>
          </a:ln>
        </p:spPr>
      </p:sp>
      <p:sp>
        <p:nvSpPr>
          <p:cNvPr id="20" name="Text 18"/>
          <p:cNvSpPr txBox="1"/>
          <p:nvPr/>
        </p:nvSpPr>
        <p:spPr>
          <a:xfrm>
            <a:off x="548640" y="3547872"/>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24</a:t>
            </a:r>
            <a:endParaRPr lang="en-US" sz="1200" dirty="0"/>
          </a:p>
        </p:txBody>
      </p:sp>
      <p:sp>
        <p:nvSpPr>
          <p:cNvPr id="21" name="Text 19"/>
          <p:cNvSpPr txBox="1"/>
          <p:nvPr/>
        </p:nvSpPr>
        <p:spPr>
          <a:xfrm>
            <a:off x="1051560" y="3566160"/>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Next-generation TTS coverage (diffusion &amp; flow-matching)</a:t>
            </a:r>
            <a:endParaRPr lang="en-US" sz="1600" dirty="0"/>
          </a:p>
        </p:txBody>
      </p:sp>
      <p:sp>
        <p:nvSpPr>
          <p:cNvPr id="22" name="Shape 20"/>
          <p:cNvSpPr/>
          <p:nvPr/>
        </p:nvSpPr>
        <p:spPr>
          <a:xfrm>
            <a:off x="7223760" y="3593592"/>
            <a:ext cx="1371600" cy="256032"/>
          </a:xfrm>
          <a:prstGeom prst="roundRect">
            <a:avLst>
              <a:gd name="adj" fmla="val 35714"/>
            </a:avLst>
          </a:prstGeom>
          <a:solidFill>
            <a:srgbClr val="2E9E5B"/>
          </a:solidFill>
          <a:ln w="12700">
            <a:solidFill>
              <a:srgbClr val="2E9E5B"/>
            </a:solidFill>
            <a:prstDash val="solid"/>
          </a:ln>
        </p:spPr>
      </p:sp>
      <p:sp>
        <p:nvSpPr>
          <p:cNvPr id="23" name="Text 21"/>
          <p:cNvSpPr txBox="1"/>
          <p:nvPr/>
        </p:nvSpPr>
        <p:spPr>
          <a:xfrm>
            <a:off x="7223760" y="3593592"/>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24" name="Shape 22"/>
          <p:cNvSpPr/>
          <p:nvPr/>
        </p:nvSpPr>
        <p:spPr>
          <a:xfrm>
            <a:off x="548640" y="4059936"/>
            <a:ext cx="347472" cy="347472"/>
          </a:xfrm>
          <a:prstGeom prst="ellipse">
            <a:avLst/>
          </a:prstGeom>
          <a:solidFill>
            <a:srgbClr val="233559"/>
          </a:solidFill>
          <a:ln w="12700">
            <a:solidFill>
              <a:srgbClr val="FCA311"/>
            </a:solidFill>
            <a:prstDash val="solid"/>
          </a:ln>
        </p:spPr>
      </p:sp>
      <p:sp>
        <p:nvSpPr>
          <p:cNvPr id="25" name="Text 23"/>
          <p:cNvSpPr txBox="1"/>
          <p:nvPr/>
        </p:nvSpPr>
        <p:spPr>
          <a:xfrm>
            <a:off x="548640" y="4059936"/>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25</a:t>
            </a:r>
            <a:endParaRPr lang="en-US" sz="1200" dirty="0"/>
          </a:p>
        </p:txBody>
      </p:sp>
      <p:sp>
        <p:nvSpPr>
          <p:cNvPr id="26" name="Text 24"/>
          <p:cNvSpPr txBox="1"/>
          <p:nvPr/>
        </p:nvSpPr>
        <p:spPr>
          <a:xfrm>
            <a:off x="1051560" y="4078224"/>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Live voice-changer (RVC) detection</a:t>
            </a:r>
            <a:endParaRPr lang="en-US" sz="1600" dirty="0"/>
          </a:p>
        </p:txBody>
      </p:sp>
      <p:sp>
        <p:nvSpPr>
          <p:cNvPr id="27" name="Shape 25"/>
          <p:cNvSpPr/>
          <p:nvPr/>
        </p:nvSpPr>
        <p:spPr>
          <a:xfrm>
            <a:off x="7223760" y="4105656"/>
            <a:ext cx="1371600" cy="256032"/>
          </a:xfrm>
          <a:prstGeom prst="roundRect">
            <a:avLst>
              <a:gd name="adj" fmla="val 35714"/>
            </a:avLst>
          </a:prstGeom>
          <a:solidFill>
            <a:srgbClr val="D98E04"/>
          </a:solidFill>
          <a:ln w="12700">
            <a:solidFill>
              <a:srgbClr val="D98E04"/>
            </a:solidFill>
            <a:prstDash val="solid"/>
          </a:ln>
        </p:spPr>
      </p:sp>
      <p:sp>
        <p:nvSpPr>
          <p:cNvPr id="28" name="Text 26"/>
          <p:cNvSpPr txBox="1"/>
          <p:nvPr/>
        </p:nvSpPr>
        <p:spPr>
          <a:xfrm>
            <a:off x="7223760" y="4105656"/>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txBox="1"/>
          <p:nvPr/>
        </p:nvSpPr>
        <p:spPr>
          <a:xfrm>
            <a:off x="548640" y="4663440"/>
            <a:ext cx="3657600" cy="228600"/>
          </a:xfrm>
          <a:prstGeom prst="rect">
            <a:avLst/>
          </a:prstGeom>
          <a:noFill/>
          <a:ln/>
        </p:spPr>
        <p:txBody>
          <a:bodyPr wrap="square" lIns="0" tIns="0" rIns="0" bIns="0" rtlCol="0" anchor="t"/>
          <a:lstStyle/>
          <a:p>
            <a:pPr indent="0" marL="0">
              <a:buNone/>
            </a:pPr>
            <a:r>
              <a:rPr lang="en-US" sz="1000" dirty="0">
                <a:solidFill>
                  <a:srgbClr val="8C97AD"/>
                </a:solidFill>
                <a:latin typeface="Calibri" pitchFamily="34" charset="0"/>
                <a:ea typeface="Calibri" pitchFamily="34" charset="-122"/>
                <a:cs typeface="Calibri" pitchFamily="34" charset="-120"/>
              </a:rPr>
              <a:t>Papers [41]-[50]</a:t>
            </a:r>
            <a:endParaRPr lang="en-US" sz="1000" dirty="0"/>
          </a:p>
        </p:txBody>
      </p:sp>
      <p:sp>
        <p:nvSpPr>
          <p:cNvPr id="30" name="Text 28"/>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8C97AD"/>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21</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Trusted-contact voiceprint (SASV)</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Akshat  ·  Security, identity &amp; provenance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"Is this really Mom?" Check both: is the voice real, and is it HER?</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The typical fraud is impersonating someone the victim knows. SONIX only asks 'real or synthetic'. Spoofing-aware speaker verification adds 'does this match the enrolled voice of the claimed person', which catches both a clone and a real impostor.</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Let the user enrol a few trusted contacts (with their consent), compute speaker embeddings, and fuse speaker match with the spoof score; evaluate with a-DCF instead of two separate EERs.</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[41]</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SASV 2022: The First Spoofing-Aware Speaker Verification Challenge</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2022</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Defines joint speaker verification + anti-spoofing with target, impostor and spoofed trials; provides open baselines; 23 teams submitted systems.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[42]</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a-DCF: an Architecture Agnostic Metric with Application to Spoofing-Robust Speaker Verification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Odyssey 2024</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 single Bayes-risk cost metric for spoofing-robust speaker verification that works whatever the architecture; released as a Python package.</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22</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Watermark detection</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Akshat  ·  Security, identity &amp; provenance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If the clone came from a vendor that watermarks, prove it instantly.</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Some generators embed invisible watermarks. When present, a watermark is near-certain evidence of AI speech, far cheaper to check than our detector, and it localises the watermarked region. It is a free high-precision signal alongside the learned score.</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Run the open AudioSeal detector (and a WavMark decoder) on each window; if a watermark is found, force Red with the reason 'AI watermark found'. Measure how watermarks survive our codec chain.</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[43]</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Proactive Detection of Voice Cloning with Localized Watermarking (AudioSeal)</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ICML 2024</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Watermark detectable down to the sample level; fast single-pass detector up to two orders of magnitude faster than earlier methods, suitable for real-time use.</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[44]</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WavMark: Watermarking for Audio Generation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2023</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Invertible-network watermark that hides up to 32 bits in 1 s of audio, imperceptible and resilient to common attacks.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23</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Protect-my-voice (anti-cloning shield)</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Akshat  ·  Security, identity &amp; provenance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Before you post a voice note or video, SONIX adds noise that stops it being cloned.</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Detection is reactive. Clones are usually built from a few seconds of public audio (reels, voice notes). A companion 'shield' that perturbs a user's own audio before upload makes SONIX the first product that both detects clones and prevents them.</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Offer a 'protect this file' action in the dashboard using SafeSpeech/AntiFake-style perturbation, then verify by trying to clone the protected file with our own XTTS/OpenVoice setup.</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[45]</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AntiFake: Using Adversarial Audio to Prevent Unauthorized Speech Synthesis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ACM CCS 2023</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Adversarial perturbations shift the speaker embedding so clones sound like someone else; over 95% protection rate against five synthesisers including unknown black-box ones.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[46]</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SafeSpeech: Robust and Universal Voice Protection Against Malicious Speech Synthesis</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USENIX Security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SPEC perturbation via a surrogate model transfers across synthesisers and resists adaptive attackers; about 10.6 s to generate a speaker-specific perturbation.</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24</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Next-generation TTS coverage (diffusion &amp; flow-matching)</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Akshat  ·  Security, identity &amp; provenance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Make sure SONIX catches the newest diffusion-based voices, not just 2019-era ones.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ASVspoof 2019 (our headline) predates diffusion and flow-matching TTS. DiffSSD shows ASVspoof19-trained detectors going from near 0-10% EER to 22-55% on diffusion speech. Several tools on our own cloning list (e.g. XTTS-v2, OpenVoice v2) appear in DiffSSD.</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Add DiffSSD and DFADD as held-out generator families in the v4 open-set evaluation (S8), and add a training slice if the gap is large.</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[47]</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DiffSSD: A Diffusion-Based Dataset for Speech Forensics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2025</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About 200 hours: 70,000 synthetic clips from 8 open-source diffusion-based generators (incl. XTTS-v2, OpenVoice v2) and 2 commercial ones (ElevenLabs, PlayHT). ASVspoof19-trained detectors rise to 22-55% EER.</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[48]</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DFADD: The Diffusion and Flow-Matching Based Audio Deepfake Dataset</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 SLT 2024</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First dataset built specifically from diffusion and flow-matching TTS models, created to test whether current anti-spoofing models handle them.</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25</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Live voice-changer (RVC) detection</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Akshat  ·  Security, identity &amp; provenance</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Catch speech-to-speech voice changers used live during a call, not just typed TTS.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On a live call a scammer cannot type every reply into TTS; real-time voice conversion (RVC and similar) lets them talk in a cloned voice. Our training data is mostly TTS. VoxENES 2026 shows current detectors near chance on modern TTS/VC, with the best at 28.98% EER.</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Generate RVC conversions of consenting volunteers, keep them recording-level held-out, and add a VC generator family. Caveat to present honestly: 2601.04227 uses DEEP-VOICE (our held-out set) and 1-second segments, the setup our V4 brief warns can inflate results through row-level splits.</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[49]</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Defense Against Synthetic Speech: Real-Time Detection of RVC Voice Conversion Attacks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 (preprint)</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Frames RVC detection as streaming classification over 1 s segments on DEEP-VOICE, re-adding background ambience so models cannot rely on trivial artefacts.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[50]</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VoxENES 2026: Benchmarking Generalization of Speech Spoofing Detectors Against LLM-Era TTS and Voice Conversion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 (preprint)</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53,628 English/Spanish samples from 10 generators released or updated in 2025, under 10 post-processing conditions. Eight pretrained detectors degrade badly; best overall EER 28.98%.</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20040"/>
          </a:xfrm>
          <a:prstGeom prst="rect">
            <a:avLst/>
          </a:prstGeom>
          <a:noFill/>
          <a:ln/>
        </p:spPr>
        <p:txBody>
          <a:bodyPr wrap="square" lIns="0" tIns="0" rIns="0" bIns="0" rtlCol="0" anchor="t"/>
          <a:lstStyle/>
          <a:p>
            <a:pPr indent="0" marL="0">
              <a:buNone/>
            </a:pPr>
            <a:r>
              <a:rPr lang="en-US" sz="1300" b="1" spc="200" kern="0" dirty="0">
                <a:solidFill>
                  <a:srgbClr val="FCA311"/>
                </a:solidFill>
                <a:latin typeface="Calibri" pitchFamily="34" charset="0"/>
                <a:ea typeface="Calibri" pitchFamily="34" charset="-122"/>
                <a:cs typeface="Calibri" pitchFamily="34" charset="-120"/>
              </a:rPr>
              <a:t>TRUST, METRICS &amp; EXPLAINABILITY</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Yukti</a:t>
            </a:r>
            <a:endParaRPr lang="en-US" sz="4400" dirty="0"/>
          </a:p>
        </p:txBody>
      </p:sp>
      <p:sp>
        <p:nvSpPr>
          <p:cNvPr id="4" name="Shape 2"/>
          <p:cNvSpPr/>
          <p:nvPr/>
        </p:nvSpPr>
        <p:spPr>
          <a:xfrm>
            <a:off x="548640" y="2011680"/>
            <a:ext cx="347472" cy="347472"/>
          </a:xfrm>
          <a:prstGeom prst="ellipse">
            <a:avLst/>
          </a:prstGeom>
          <a:solidFill>
            <a:srgbClr val="233559"/>
          </a:solidFill>
          <a:ln w="12700">
            <a:solidFill>
              <a:srgbClr val="FCA311"/>
            </a:solidFill>
            <a:prstDash val="solid"/>
          </a:ln>
        </p:spPr>
      </p:sp>
      <p:sp>
        <p:nvSpPr>
          <p:cNvPr id="5" name="Text 3"/>
          <p:cNvSpPr txBox="1"/>
          <p:nvPr/>
        </p:nvSpPr>
        <p:spPr>
          <a:xfrm>
            <a:off x="548640" y="2011680"/>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26</a:t>
            </a:r>
            <a:endParaRPr lang="en-US" sz="1200" dirty="0"/>
          </a:p>
        </p:txBody>
      </p:sp>
      <p:sp>
        <p:nvSpPr>
          <p:cNvPr id="6" name="Text 4"/>
          <p:cNvSpPr txBox="1"/>
          <p:nvPr/>
        </p:nvSpPr>
        <p:spPr>
          <a:xfrm>
            <a:off x="1051560" y="2029968"/>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Explainability heatmap</a:t>
            </a:r>
            <a:endParaRPr lang="en-US" sz="1600" dirty="0"/>
          </a:p>
        </p:txBody>
      </p:sp>
      <p:sp>
        <p:nvSpPr>
          <p:cNvPr id="7" name="Shape 5"/>
          <p:cNvSpPr/>
          <p:nvPr/>
        </p:nvSpPr>
        <p:spPr>
          <a:xfrm>
            <a:off x="7223760" y="2057400"/>
            <a:ext cx="1371600" cy="256032"/>
          </a:xfrm>
          <a:prstGeom prst="roundRect">
            <a:avLst>
              <a:gd name="adj" fmla="val 35714"/>
            </a:avLst>
          </a:prstGeom>
          <a:solidFill>
            <a:srgbClr val="2E9E5B"/>
          </a:solidFill>
          <a:ln w="12700">
            <a:solidFill>
              <a:srgbClr val="2E9E5B"/>
            </a:solidFill>
            <a:prstDash val="solid"/>
          </a:ln>
        </p:spPr>
      </p:sp>
      <p:sp>
        <p:nvSpPr>
          <p:cNvPr id="8" name="Text 6"/>
          <p:cNvSpPr txBox="1"/>
          <p:nvPr/>
        </p:nvSpPr>
        <p:spPr>
          <a:xfrm>
            <a:off x="7223760" y="205740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9" name="Shape 7"/>
          <p:cNvSpPr/>
          <p:nvPr/>
        </p:nvSpPr>
        <p:spPr>
          <a:xfrm>
            <a:off x="548640" y="2523744"/>
            <a:ext cx="347472" cy="347472"/>
          </a:xfrm>
          <a:prstGeom prst="ellipse">
            <a:avLst/>
          </a:prstGeom>
          <a:solidFill>
            <a:srgbClr val="233559"/>
          </a:solidFill>
          <a:ln w="12700">
            <a:solidFill>
              <a:srgbClr val="FCA311"/>
            </a:solidFill>
            <a:prstDash val="solid"/>
          </a:ln>
        </p:spPr>
      </p:sp>
      <p:sp>
        <p:nvSpPr>
          <p:cNvPr id="10" name="Text 8"/>
          <p:cNvSpPr txBox="1"/>
          <p:nvPr/>
        </p:nvSpPr>
        <p:spPr>
          <a:xfrm>
            <a:off x="548640" y="2523744"/>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27</a:t>
            </a:r>
            <a:endParaRPr lang="en-US" sz="1200" dirty="0"/>
          </a:p>
        </p:txBody>
      </p:sp>
      <p:sp>
        <p:nvSpPr>
          <p:cNvPr id="11" name="Text 9"/>
          <p:cNvSpPr txBox="1"/>
          <p:nvPr/>
        </p:nvSpPr>
        <p:spPr>
          <a:xfrm>
            <a:off x="1051560" y="2542032"/>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Uncertainty-aware verdicts</a:t>
            </a:r>
            <a:endParaRPr lang="en-US" sz="1600" dirty="0"/>
          </a:p>
        </p:txBody>
      </p:sp>
      <p:sp>
        <p:nvSpPr>
          <p:cNvPr id="12" name="Shape 10"/>
          <p:cNvSpPr/>
          <p:nvPr/>
        </p:nvSpPr>
        <p:spPr>
          <a:xfrm>
            <a:off x="7223760" y="2569464"/>
            <a:ext cx="1371600" cy="256032"/>
          </a:xfrm>
          <a:prstGeom prst="roundRect">
            <a:avLst>
              <a:gd name="adj" fmla="val 35714"/>
            </a:avLst>
          </a:prstGeom>
          <a:solidFill>
            <a:srgbClr val="2E9E5B"/>
          </a:solidFill>
          <a:ln w="12700">
            <a:solidFill>
              <a:srgbClr val="2E9E5B"/>
            </a:solidFill>
            <a:prstDash val="solid"/>
          </a:ln>
        </p:spPr>
      </p:sp>
      <p:sp>
        <p:nvSpPr>
          <p:cNvPr id="13" name="Text 11"/>
          <p:cNvSpPr txBox="1"/>
          <p:nvPr/>
        </p:nvSpPr>
        <p:spPr>
          <a:xfrm>
            <a:off x="7223760" y="2569464"/>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14" name="Shape 12"/>
          <p:cNvSpPr/>
          <p:nvPr/>
        </p:nvSpPr>
        <p:spPr>
          <a:xfrm>
            <a:off x="548640" y="3035808"/>
            <a:ext cx="347472" cy="347472"/>
          </a:xfrm>
          <a:prstGeom prst="ellipse">
            <a:avLst/>
          </a:prstGeom>
          <a:solidFill>
            <a:srgbClr val="233559"/>
          </a:solidFill>
          <a:ln w="12700">
            <a:solidFill>
              <a:srgbClr val="FCA311"/>
            </a:solidFill>
            <a:prstDash val="solid"/>
          </a:ln>
        </p:spPr>
      </p:sp>
      <p:sp>
        <p:nvSpPr>
          <p:cNvPr id="15" name="Text 13"/>
          <p:cNvSpPr txBox="1"/>
          <p:nvPr/>
        </p:nvSpPr>
        <p:spPr>
          <a:xfrm>
            <a:off x="548640" y="3035808"/>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28</a:t>
            </a:r>
            <a:endParaRPr lang="en-US" sz="1200" dirty="0"/>
          </a:p>
        </p:txBody>
      </p:sp>
      <p:sp>
        <p:nvSpPr>
          <p:cNvPr id="16" name="Text 14"/>
          <p:cNvSpPr txBox="1"/>
          <p:nvPr/>
        </p:nvSpPr>
        <p:spPr>
          <a:xfrm>
            <a:off x="1051560" y="3054096"/>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Fairness audit (gender, accent, language)</a:t>
            </a:r>
            <a:endParaRPr lang="en-US" sz="1600" dirty="0"/>
          </a:p>
        </p:txBody>
      </p:sp>
      <p:sp>
        <p:nvSpPr>
          <p:cNvPr id="17" name="Shape 15"/>
          <p:cNvSpPr/>
          <p:nvPr/>
        </p:nvSpPr>
        <p:spPr>
          <a:xfrm>
            <a:off x="7223760" y="3081528"/>
            <a:ext cx="1371600" cy="256032"/>
          </a:xfrm>
          <a:prstGeom prst="roundRect">
            <a:avLst>
              <a:gd name="adj" fmla="val 35714"/>
            </a:avLst>
          </a:prstGeom>
          <a:solidFill>
            <a:srgbClr val="2E9E5B"/>
          </a:solidFill>
          <a:ln w="12700">
            <a:solidFill>
              <a:srgbClr val="2E9E5B"/>
            </a:solidFill>
            <a:prstDash val="solid"/>
          </a:ln>
        </p:spPr>
      </p:sp>
      <p:sp>
        <p:nvSpPr>
          <p:cNvPr id="18" name="Text 16"/>
          <p:cNvSpPr txBox="1"/>
          <p:nvPr/>
        </p:nvSpPr>
        <p:spPr>
          <a:xfrm>
            <a:off x="7223760" y="3081528"/>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19" name="Shape 17"/>
          <p:cNvSpPr/>
          <p:nvPr/>
        </p:nvSpPr>
        <p:spPr>
          <a:xfrm>
            <a:off x="548640" y="3547872"/>
            <a:ext cx="347472" cy="347472"/>
          </a:xfrm>
          <a:prstGeom prst="ellipse">
            <a:avLst/>
          </a:prstGeom>
          <a:solidFill>
            <a:srgbClr val="233559"/>
          </a:solidFill>
          <a:ln w="12700">
            <a:solidFill>
              <a:srgbClr val="FCA311"/>
            </a:solidFill>
            <a:prstDash val="solid"/>
          </a:ln>
        </p:spPr>
      </p:sp>
      <p:sp>
        <p:nvSpPr>
          <p:cNvPr id="20" name="Text 18"/>
          <p:cNvSpPr txBox="1"/>
          <p:nvPr/>
        </p:nvSpPr>
        <p:spPr>
          <a:xfrm>
            <a:off x="548640" y="3547872"/>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29</a:t>
            </a:r>
            <a:endParaRPr lang="en-US" sz="1200" dirty="0"/>
          </a:p>
        </p:txBody>
      </p:sp>
      <p:sp>
        <p:nvSpPr>
          <p:cNvPr id="21" name="Text 19"/>
          <p:cNvSpPr txBox="1"/>
          <p:nvPr/>
        </p:nvSpPr>
        <p:spPr>
          <a:xfrm>
            <a:off x="1051560" y="3566160"/>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Silence-shortcut audit</a:t>
            </a:r>
            <a:endParaRPr lang="en-US" sz="1600" dirty="0"/>
          </a:p>
        </p:txBody>
      </p:sp>
      <p:sp>
        <p:nvSpPr>
          <p:cNvPr id="22" name="Shape 20"/>
          <p:cNvSpPr/>
          <p:nvPr/>
        </p:nvSpPr>
        <p:spPr>
          <a:xfrm>
            <a:off x="7223760" y="3593592"/>
            <a:ext cx="1371600" cy="256032"/>
          </a:xfrm>
          <a:prstGeom prst="roundRect">
            <a:avLst>
              <a:gd name="adj" fmla="val 35714"/>
            </a:avLst>
          </a:prstGeom>
          <a:solidFill>
            <a:srgbClr val="2E9E5B"/>
          </a:solidFill>
          <a:ln w="12700">
            <a:solidFill>
              <a:srgbClr val="2E9E5B"/>
            </a:solidFill>
            <a:prstDash val="solid"/>
          </a:ln>
        </p:spPr>
      </p:sp>
      <p:sp>
        <p:nvSpPr>
          <p:cNvPr id="23" name="Text 21"/>
          <p:cNvSpPr txBox="1"/>
          <p:nvPr/>
        </p:nvSpPr>
        <p:spPr>
          <a:xfrm>
            <a:off x="7223760" y="3593592"/>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24" name="Shape 22"/>
          <p:cNvSpPr/>
          <p:nvPr/>
        </p:nvSpPr>
        <p:spPr>
          <a:xfrm>
            <a:off x="548640" y="4059936"/>
            <a:ext cx="347472" cy="347472"/>
          </a:xfrm>
          <a:prstGeom prst="ellipse">
            <a:avLst/>
          </a:prstGeom>
          <a:solidFill>
            <a:srgbClr val="233559"/>
          </a:solidFill>
          <a:ln w="12700">
            <a:solidFill>
              <a:srgbClr val="FCA311"/>
            </a:solidFill>
            <a:prstDash val="solid"/>
          </a:ln>
        </p:spPr>
      </p:sp>
      <p:sp>
        <p:nvSpPr>
          <p:cNvPr id="25" name="Text 23"/>
          <p:cNvSpPr txBox="1"/>
          <p:nvPr/>
        </p:nvSpPr>
        <p:spPr>
          <a:xfrm>
            <a:off x="548640" y="4059936"/>
            <a:ext cx="347472" cy="347472"/>
          </a:xfrm>
          <a:prstGeom prst="rect">
            <a:avLst/>
          </a:prstGeom>
          <a:noFill/>
          <a:ln/>
        </p:spPr>
        <p:txBody>
          <a:bodyPr wrap="square" lIns="0" tIns="0" rIns="0" bIns="0" rtlCol="0" anchor="ctr"/>
          <a:lstStyle/>
          <a:p>
            <a:pPr algn="ctr" indent="0" marL="0">
              <a:buNone/>
            </a:pPr>
            <a:r>
              <a:rPr lang="en-US" sz="1200" b="1" dirty="0">
                <a:solidFill>
                  <a:srgbClr val="FCA311"/>
                </a:solidFill>
                <a:latin typeface="Calibri" pitchFamily="34" charset="0"/>
                <a:ea typeface="Calibri" pitchFamily="34" charset="-122"/>
                <a:cs typeface="Calibri" pitchFamily="34" charset="-120"/>
              </a:rPr>
              <a:t>30</a:t>
            </a:r>
            <a:endParaRPr lang="en-US" sz="1200" dirty="0"/>
          </a:p>
        </p:txBody>
      </p:sp>
      <p:sp>
        <p:nvSpPr>
          <p:cNvPr id="26" name="Text 24"/>
          <p:cNvSpPr txBox="1"/>
          <p:nvPr/>
        </p:nvSpPr>
        <p:spPr>
          <a:xfrm>
            <a:off x="1051560" y="4078224"/>
            <a:ext cx="6035040" cy="31089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Plain-language explanation for users</a:t>
            </a:r>
            <a:endParaRPr lang="en-US" sz="1600" dirty="0"/>
          </a:p>
        </p:txBody>
      </p:sp>
      <p:sp>
        <p:nvSpPr>
          <p:cNvPr id="27" name="Shape 25"/>
          <p:cNvSpPr/>
          <p:nvPr/>
        </p:nvSpPr>
        <p:spPr>
          <a:xfrm>
            <a:off x="7223760" y="4105656"/>
            <a:ext cx="1371600" cy="256032"/>
          </a:xfrm>
          <a:prstGeom prst="roundRect">
            <a:avLst>
              <a:gd name="adj" fmla="val 35714"/>
            </a:avLst>
          </a:prstGeom>
          <a:solidFill>
            <a:srgbClr val="D98E04"/>
          </a:solidFill>
          <a:ln w="12700">
            <a:solidFill>
              <a:srgbClr val="D98E04"/>
            </a:solidFill>
            <a:prstDash val="solid"/>
          </a:ln>
        </p:spPr>
      </p:sp>
      <p:sp>
        <p:nvSpPr>
          <p:cNvPr id="28" name="Text 26"/>
          <p:cNvSpPr txBox="1"/>
          <p:nvPr/>
        </p:nvSpPr>
        <p:spPr>
          <a:xfrm>
            <a:off x="7223760" y="4105656"/>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txBox="1"/>
          <p:nvPr/>
        </p:nvSpPr>
        <p:spPr>
          <a:xfrm>
            <a:off x="548640" y="4663440"/>
            <a:ext cx="3657600" cy="228600"/>
          </a:xfrm>
          <a:prstGeom prst="rect">
            <a:avLst/>
          </a:prstGeom>
          <a:noFill/>
          <a:ln/>
        </p:spPr>
        <p:txBody>
          <a:bodyPr wrap="square" lIns="0" tIns="0" rIns="0" bIns="0" rtlCol="0" anchor="t"/>
          <a:lstStyle/>
          <a:p>
            <a:pPr indent="0" marL="0">
              <a:buNone/>
            </a:pPr>
            <a:r>
              <a:rPr lang="en-US" sz="1000" dirty="0">
                <a:solidFill>
                  <a:srgbClr val="8C97AD"/>
                </a:solidFill>
                <a:latin typeface="Calibri" pitchFamily="34" charset="0"/>
                <a:ea typeface="Calibri" pitchFamily="34" charset="-122"/>
                <a:cs typeface="Calibri" pitchFamily="34" charset="-120"/>
              </a:rPr>
              <a:t>Papers [51]-[60]</a:t>
            </a:r>
            <a:endParaRPr lang="en-US" sz="1000" dirty="0"/>
          </a:p>
        </p:txBody>
      </p:sp>
      <p:sp>
        <p:nvSpPr>
          <p:cNvPr id="30" name="Text 28"/>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8C97AD"/>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26</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Explainability heatmap</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Yukti  ·  Trust, metrics &amp; explainability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Show which moments and frequencies made SONIX say Red.</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The first jury question after a Red verdict is 'why?'. A black-box score is hard to defend and hard to debug. Attribution maps also reveal shortcut learning (silence, channel), which is exactly the failure mode our probes found.</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Compute SHAP or relevancy attributions for a flagged call and overlay them on the existing spectrogram / risk timeline in the demo.</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[51]</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Explaining Deep Learning Models for Spoofing and Deepfake Detection with SHapley Additive exPlanations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2022</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SHAP reveals unexpected classifier behaviour, the artefacts that drive outputs, and differences between competing detectors.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[52]</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What Does an Audio Deepfake Detector Focus on? A Study in the Time Domain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Relevancy-based XAI for transformer detectors beats Grad-CAM and SHAP on faithfulness metrics; conclusions drawn from a few utterances often do not hold on large datasets.</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27</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Uncertainty-aware verdicts</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Yukti  ·  Trust, metrics &amp; explainability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Let the model say 'I'm not sure' instead of forcing a confident score.</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Our band thresholds (35/65) are provisional and were never recalibrated on real recordings (FEATURES.txt section 3). A softmax/sigmoid score is often over-confident on unseen audio. An explicit uncertainty estimate lets Amber mean 'model is unsure', not just 'score happens to be in the middle'.</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Swap the head's output for an evidential (Dirichlet) layer, show uncertainty as a second line on the timeline, and route high-uncertainty windows to Amber regardless of score.</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[53]</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FADEL: Uncertainty-aware Fake Audio Detection with Evidential Deep Learning</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ICASSP 2025</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Models class probabilities with a Dirichlet distribution to avoid softmax over-confidence; more robust on out-of-distribution attacks.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[54]</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Trusted Fake Audio Detection Based on Dirichlet Distribution</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Interspeech 2025</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Outputs predictions with confidence estimates; improves EER, min t-DCF and calibration error on ASVspoof 2019 LA and 2021 LA/DF.</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28</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Fairness audit (gender, accent, language)</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Yukti  ·  Trust, metrics &amp; explainability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Prove SONIX doesn't raise more false alarms for some groups of callers.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 false Red on a real caller hurts trust. V4 already selects models on worst-group EER over language x generator x label. Extending that audit to gender and accent is cheap and answers a fairness question the jury will ask for a national-scale deployment.</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Add gender/accent metadata where available (Common Voice, IndicVoices, sonix_real), report per-group EER and false-alarm rate in metrics.py, and flag any group gap above a set limit.</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[55]</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Gender Fairness in Audio Deepfake Detection: Performance and Disparity Analysis</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Measures performance and error-rate disparity between male and female speakers in audio deepfake detectors.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[56]</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Towards Trustworthy Audio Deepfake Detection: A Systematic Framework for Diagnosing and Mitigating Gender Bias</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Systematic framework to diagnose where gender bias comes from (representation, feature leakage, evaluation asymmetry) and to mitigate it.</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29</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Silence-shortcut audit</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Yukti  ·  Trust, metrics &amp; explainability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Check SONIX is detecting voices, not just counting silence.</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ASVspoof 2019 has a known artefact: real clips have longer leading/trailing silence than fakes, and a model can score well by learning that. SONIX's live path drops silent windows with its VAD, while the head was trained on untrimmed ASVspoof clips, so a silence shortcut would inflate our 1.49% and then vanish on live calls.</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Re-evaluate the head on VAD-trimmed eval audio, train a 'silence-only' baseline, and report both next to the headline EER.</a:t>
            </a:r>
            <a:endParaRPr lang="en-US" sz="1100" dirty="0"/>
          </a:p>
        </p:txBody>
      </p:sp>
      <p:sp>
        <p:nvSpPr>
          <p:cNvPr id="11" name="Shape 9"/>
          <p:cNvSpPr/>
          <p:nvPr/>
        </p:nvSpPr>
        <p:spPr>
          <a:xfrm>
            <a:off x="457200" y="4553712"/>
            <a:ext cx="1920240" cy="274320"/>
          </a:xfrm>
          <a:prstGeom prst="roundRect">
            <a:avLst>
              <a:gd name="adj" fmla="val 33333"/>
            </a:avLst>
          </a:prstGeom>
          <a:solidFill>
            <a:srgbClr val="2E9E5B"/>
          </a:solidFill>
          <a:ln w="12700">
            <a:solidFill>
              <a:srgbClr val="2E9E5B"/>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Small: days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[57]</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Speech is Silver, Silence is Golden: What do ASVspoof-trained Models Really Learn?</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ASVspoof 2021 Workshop</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A model using only leading-silence duration reaches 15.1% EER on ASVspoof; RawNet2 goes from 3.6% to 15.5% EER when silence is trimmed.</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[58]</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Impact of Silence on Speech Anti-Spoofing</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IEEE/ACM TASLP 2023</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Silence proportion and silence content differ between real and TTS speech; removing silence with VAD severely degrades countermeasures, even after retraining.</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14213D"/>
          </a:solidFill>
          <a:ln w="12700">
            <a:solidFill>
              <a:srgbClr val="1421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30</a:t>
            </a:r>
            <a:endParaRPr lang="en-US" sz="1400" dirty="0"/>
          </a:p>
        </p:txBody>
      </p:sp>
      <p:sp>
        <p:nvSpPr>
          <p:cNvPr id="4" name="Text 2"/>
          <p:cNvSpPr txBox="1"/>
          <p:nvPr/>
        </p:nvSpPr>
        <p:spPr>
          <a:xfrm>
            <a:off x="1005840" y="274320"/>
            <a:ext cx="6035040" cy="502920"/>
          </a:xfrm>
          <a:prstGeom prst="rect">
            <a:avLst/>
          </a:prstGeom>
          <a:noFill/>
          <a:ln/>
        </p:spPr>
        <p:txBody>
          <a:bodyPr wrap="square" lIns="0" tIns="0" rIns="0" bIns="0" rtlCol="0" anchor="ctr">
            <a:normAutofit/>
          </a:bodyPr>
          <a:lstStyle/>
          <a:p>
            <a:pPr indent="0" marL="0">
              <a:buNone/>
            </a:pPr>
            <a:r>
              <a:rPr lang="en-US" sz="2400" b="1" dirty="0">
                <a:solidFill>
                  <a:srgbClr val="14213D"/>
                </a:solidFill>
                <a:latin typeface="Cambria" pitchFamily="34" charset="0"/>
                <a:ea typeface="Cambria" pitchFamily="34" charset="-122"/>
                <a:cs typeface="Cambria" pitchFamily="34" charset="-120"/>
              </a:rPr>
              <a:t>Plain-language explanation for users</a:t>
            </a:r>
            <a:endParaRPr lang="en-US" sz="2400" dirty="0"/>
          </a:p>
        </p:txBody>
      </p:sp>
      <p:sp>
        <p:nvSpPr>
          <p:cNvPr id="5" name="Text 3"/>
          <p:cNvSpPr txBox="1"/>
          <p:nvPr/>
        </p:nvSpPr>
        <p:spPr>
          <a:xfrm>
            <a:off x="7040880" y="384048"/>
            <a:ext cx="1645920" cy="320040"/>
          </a:xfrm>
          <a:prstGeom prst="rect">
            <a:avLst/>
          </a:prstGeom>
          <a:noFill/>
          <a:ln/>
        </p:spPr>
        <p:txBody>
          <a:bodyPr wrap="square" lIns="0" tIns="0" rIns="0" bIns="0" rtlCol="0" anchor="ctr"/>
          <a:lstStyle/>
          <a:p>
            <a:pPr algn="r" indent="0" marL="0">
              <a:buNone/>
            </a:pPr>
            <a:r>
              <a:rPr lang="en-US" sz="900" dirty="0">
                <a:solidFill>
                  <a:srgbClr val="5B6474"/>
                </a:solidFill>
                <a:latin typeface="Calibri" pitchFamily="34" charset="0"/>
                <a:ea typeface="Calibri" pitchFamily="34" charset="-122"/>
                <a:cs typeface="Calibri" pitchFamily="34" charset="-120"/>
              </a:rPr>
              <a:t>Yukti  ·  Trust, metrics &amp; explainability</a:t>
            </a:r>
            <a:endParaRPr lang="en-US" sz="900" dirty="0"/>
          </a:p>
        </p:txBody>
      </p:sp>
      <p:sp>
        <p:nvSpPr>
          <p:cNvPr id="6" name="Text 4"/>
          <p:cNvSpPr txBox="1"/>
          <p:nvPr/>
        </p:nvSpPr>
        <p:spPr>
          <a:xfrm>
            <a:off x="1005840" y="804672"/>
            <a:ext cx="7680960" cy="320040"/>
          </a:xfrm>
          <a:prstGeom prst="rect">
            <a:avLst/>
          </a:prstGeom>
          <a:noFill/>
          <a:ln/>
        </p:spPr>
        <p:txBody>
          <a:bodyPr wrap="square" lIns="0" tIns="0" rIns="0" bIns="0" rtlCol="0" anchor="t"/>
          <a:lstStyle/>
          <a:p>
            <a:pPr indent="0" marL="0">
              <a:buNone/>
            </a:pPr>
            <a:r>
              <a:rPr lang="en-US" sz="1300" i="1" dirty="0">
                <a:solidFill>
                  <a:srgbClr val="B7791F"/>
                </a:solidFill>
                <a:latin typeface="Calibri" pitchFamily="34" charset="0"/>
                <a:ea typeface="Calibri" pitchFamily="34" charset="-122"/>
                <a:cs typeface="Calibri" pitchFamily="34" charset="-120"/>
              </a:rPr>
              <a:t>Turn 'score 0.81' into a sentence a grandparent understands.</a:t>
            </a:r>
            <a:endParaRPr lang="en-US" sz="1300" dirty="0"/>
          </a:p>
        </p:txBody>
      </p:sp>
      <p:sp>
        <p:nvSpPr>
          <p:cNvPr id="7" name="Text 5"/>
          <p:cNvSpPr txBox="1"/>
          <p:nvPr/>
        </p:nvSpPr>
        <p:spPr>
          <a:xfrm>
            <a:off x="457200" y="128016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THE PROBLEM IN SONIX</a:t>
            </a:r>
            <a:endParaRPr lang="en-US" sz="1000" dirty="0"/>
          </a:p>
        </p:txBody>
      </p:sp>
      <p:sp>
        <p:nvSpPr>
          <p:cNvPr id="8" name="Text 6"/>
          <p:cNvSpPr txBox="1"/>
          <p:nvPr/>
        </p:nvSpPr>
        <p:spPr>
          <a:xfrm>
            <a:off x="457200" y="1517904"/>
            <a:ext cx="4023360" cy="160020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SONIX's users are ordinary phone users, not engineers. Audio-language models can produce a short written reason grounded in what the detector attended to, which makes the alert actionable and supports the audit trail.</a:t>
            </a:r>
            <a:endParaRPr lang="en-US" sz="1100" dirty="0"/>
          </a:p>
        </p:txBody>
      </p:sp>
      <p:sp>
        <p:nvSpPr>
          <p:cNvPr id="9" name="Text 7"/>
          <p:cNvSpPr txBox="1"/>
          <p:nvPr/>
        </p:nvSpPr>
        <p:spPr>
          <a:xfrm>
            <a:off x="457200" y="3200400"/>
            <a:ext cx="4023360" cy="228600"/>
          </a:xfrm>
          <a:prstGeom prst="rect">
            <a:avLst/>
          </a:prstGeom>
          <a:noFill/>
          <a:ln/>
        </p:spPr>
        <p:txBody>
          <a:bodyPr wrap="square" lIns="0" tIns="0" rIns="0" bIns="0" rtlCol="0" anchor="t"/>
          <a:lstStyle/>
          <a:p>
            <a:pPr indent="0" marL="0">
              <a:buNone/>
            </a:pPr>
            <a:r>
              <a:rPr lang="en-US" sz="1000" b="1" spc="100" kern="0" dirty="0">
                <a:solidFill>
                  <a:srgbClr val="14213D"/>
                </a:solidFill>
                <a:latin typeface="Calibri" pitchFamily="34" charset="0"/>
                <a:ea typeface="Calibri" pitchFamily="34" charset="-122"/>
                <a:cs typeface="Calibri" pitchFamily="34" charset="-120"/>
              </a:rPr>
              <a:t>WHAT WE WOULD BUILD</a:t>
            </a:r>
            <a:endParaRPr lang="en-US" sz="1000" dirty="0"/>
          </a:p>
        </p:txBody>
      </p:sp>
      <p:sp>
        <p:nvSpPr>
          <p:cNvPr id="10" name="Text 8"/>
          <p:cNvSpPr txBox="1"/>
          <p:nvPr/>
        </p:nvSpPr>
        <p:spPr>
          <a:xfrm>
            <a:off x="457200" y="3438144"/>
            <a:ext cx="4023360" cy="1005840"/>
          </a:xfrm>
          <a:prstGeom prst="rect">
            <a:avLst/>
          </a:prstGeom>
          <a:noFill/>
          <a:ln/>
        </p:spPr>
        <p:txBody>
          <a:bodyPr wrap="square" lIns="0" tIns="0" rIns="0" bIns="0" rtlCol="0" anchor="t">
            <a:normAutofit/>
          </a:bodyPr>
          <a:lstStyle/>
          <a:p>
            <a:pPr indent="0" marL="0">
              <a:buNone/>
            </a:pPr>
            <a:r>
              <a:rPr lang="en-US" sz="1100" dirty="0">
                <a:solidFill>
                  <a:srgbClr val="1B1F27"/>
                </a:solidFill>
                <a:latin typeface="Calibri" pitchFamily="34" charset="0"/>
                <a:ea typeface="Calibri" pitchFamily="34" charset="-122"/>
                <a:cs typeface="Calibri" pitchFamily="34" charset="-120"/>
              </a:rPr>
              <a:t>Feed the attribution map from the heatmap feature plus the score into a multimodal LLM prompt, generate a one-line reason, and store it in the call's audit JSON.</a:t>
            </a:r>
            <a:endParaRPr lang="en-US" sz="1100" dirty="0"/>
          </a:p>
        </p:txBody>
      </p:sp>
      <p:sp>
        <p:nvSpPr>
          <p:cNvPr id="11" name="Shape 9"/>
          <p:cNvSpPr/>
          <p:nvPr/>
        </p:nvSpPr>
        <p:spPr>
          <a:xfrm>
            <a:off x="457200" y="4553712"/>
            <a:ext cx="1920240" cy="274320"/>
          </a:xfrm>
          <a:prstGeom prst="roundRect">
            <a:avLst>
              <a:gd name="adj" fmla="val 33333"/>
            </a:avLst>
          </a:prstGeom>
          <a:solidFill>
            <a:srgbClr val="D98E04"/>
          </a:solidFill>
          <a:ln w="12700">
            <a:solidFill>
              <a:srgbClr val="D98E04"/>
            </a:solidFill>
            <a:prstDash val="solid"/>
          </a:ln>
        </p:spPr>
      </p:sp>
      <p:sp>
        <p:nvSpPr>
          <p:cNvPr id="12" name="Text 10"/>
          <p:cNvSpPr txBox="1"/>
          <p:nvPr/>
        </p:nvSpPr>
        <p:spPr>
          <a:xfrm>
            <a:off x="457200" y="4553712"/>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Effort: Medium: 1-2 weeks</a:t>
            </a:r>
            <a:endParaRPr lang="en-US" sz="1000" dirty="0"/>
          </a:p>
        </p:txBody>
      </p:sp>
      <p:sp>
        <p:nvSpPr>
          <p:cNvPr id="13" name="Shape 11"/>
          <p:cNvSpPr/>
          <p:nvPr/>
        </p:nvSpPr>
        <p:spPr>
          <a:xfrm>
            <a:off x="4754880" y="1280160"/>
            <a:ext cx="3931920" cy="1645920"/>
          </a:xfrm>
          <a:prstGeom prst="roundRect">
            <a:avLst>
              <a:gd name="adj" fmla="val 3333"/>
            </a:avLst>
          </a:prstGeom>
          <a:solidFill>
            <a:srgbClr val="EEF1F6"/>
          </a:solidFill>
          <a:ln w="12700">
            <a:solidFill>
              <a:srgbClr val="EEF1F6"/>
            </a:solidFill>
            <a:prstDash val="solid"/>
          </a:ln>
        </p:spPr>
      </p:sp>
      <p:sp>
        <p:nvSpPr>
          <p:cNvPr id="14" name="Text 12"/>
          <p:cNvSpPr txBox="1"/>
          <p:nvPr/>
        </p:nvSpPr>
        <p:spPr>
          <a:xfrm>
            <a:off x="4892040" y="138988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[59]</a:t>
            </a:r>
            <a:endParaRPr lang="en-US" sz="1000" dirty="0"/>
          </a:p>
        </p:txBody>
      </p:sp>
      <p:sp>
        <p:nvSpPr>
          <p:cNvPr id="15" name="Text 13"/>
          <p:cNvSpPr txBox="1"/>
          <p:nvPr/>
        </p:nvSpPr>
        <p:spPr>
          <a:xfrm>
            <a:off x="5303520" y="137160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Towards Robust Speech Deepfake Detection via Human-Inspired Reasoning</a:t>
            </a:r>
            <a:endParaRPr lang="en-US" sz="950" dirty="0"/>
          </a:p>
        </p:txBody>
      </p:sp>
      <p:sp>
        <p:nvSpPr>
          <p:cNvPr id="16" name="Text 14"/>
          <p:cNvSpPr txBox="1"/>
          <p:nvPr/>
        </p:nvSpPr>
        <p:spPr>
          <a:xfrm>
            <a:off x="5303520" y="182880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a:t>
            </a:r>
            <a:endParaRPr lang="en-US" sz="900" dirty="0"/>
          </a:p>
        </p:txBody>
      </p:sp>
      <p:sp>
        <p:nvSpPr>
          <p:cNvPr id="17" name="Text 15"/>
          <p:cNvSpPr txBox="1"/>
          <p:nvPr/>
        </p:nvSpPr>
        <p:spPr>
          <a:xfrm>
            <a:off x="4892040" y="206654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HIR-SDD combines large audio-language models with chain-of-thought reasoning learned from human annotations, giving predictions plus justifications.</a:t>
            </a:r>
            <a:endParaRPr lang="en-US" sz="950" dirty="0"/>
          </a:p>
        </p:txBody>
      </p:sp>
      <p:sp>
        <p:nvSpPr>
          <p:cNvPr id="18" name="Shape 16"/>
          <p:cNvSpPr/>
          <p:nvPr/>
        </p:nvSpPr>
        <p:spPr>
          <a:xfrm>
            <a:off x="4754880" y="3063240"/>
            <a:ext cx="3931920" cy="1645920"/>
          </a:xfrm>
          <a:prstGeom prst="roundRect">
            <a:avLst>
              <a:gd name="adj" fmla="val 3333"/>
            </a:avLst>
          </a:prstGeom>
          <a:solidFill>
            <a:srgbClr val="EEF1F6"/>
          </a:solidFill>
          <a:ln w="12700">
            <a:solidFill>
              <a:srgbClr val="EEF1F6"/>
            </a:solidFill>
            <a:prstDash val="solid"/>
          </a:ln>
        </p:spPr>
      </p:sp>
      <p:sp>
        <p:nvSpPr>
          <p:cNvPr id="19" name="Text 17"/>
          <p:cNvSpPr txBox="1"/>
          <p:nvPr/>
        </p:nvSpPr>
        <p:spPr>
          <a:xfrm>
            <a:off x="4892040" y="3172968"/>
            <a:ext cx="411480" cy="228600"/>
          </a:xfrm>
          <a:prstGeom prst="rect">
            <a:avLst/>
          </a:prstGeom>
          <a:noFill/>
          <a:ln/>
        </p:spPr>
        <p:txBody>
          <a:bodyPr wrap="square" lIns="0" tIns="0" rIns="0" bIns="0" rtlCol="0" anchor="t"/>
          <a:lstStyle/>
          <a:p>
            <a:pPr indent="0" marL="0">
              <a:buNone/>
            </a:pPr>
            <a:r>
              <a:rPr lang="en-US" sz="1000" b="1" dirty="0">
                <a:solidFill>
                  <a:srgbClr val="B7791F"/>
                </a:solidFill>
                <a:latin typeface="Calibri" pitchFamily="34" charset="0"/>
                <a:ea typeface="Calibri" pitchFamily="34" charset="-122"/>
                <a:cs typeface="Calibri" pitchFamily="34" charset="-120"/>
              </a:rPr>
              <a:t>[60]</a:t>
            </a:r>
            <a:endParaRPr lang="en-US" sz="1000" dirty="0"/>
          </a:p>
        </p:txBody>
      </p:sp>
      <p:sp>
        <p:nvSpPr>
          <p:cNvPr id="20" name="Text 18"/>
          <p:cNvSpPr txBox="1"/>
          <p:nvPr/>
        </p:nvSpPr>
        <p:spPr>
          <a:xfrm>
            <a:off x="5303520" y="3154680"/>
            <a:ext cx="3246120" cy="457200"/>
          </a:xfrm>
          <a:prstGeom prst="rect">
            <a:avLst/>
          </a:prstGeom>
          <a:noFill/>
          <a:ln/>
        </p:spPr>
        <p:txBody>
          <a:bodyPr wrap="square" lIns="0" tIns="0" rIns="0" bIns="0" rtlCol="0" anchor="t"/>
          <a:lstStyle/>
          <a:p>
            <a:pPr indent="0" marL="0">
              <a:buNone/>
            </a:pPr>
            <a:r>
              <a:rPr lang="en-US" sz="950" b="1" u="sng" dirty="0">
                <a:solidFill>
                  <a:srgbClr val="1421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XAI-Grounded Explanation Generation for Speech Deepfake Detection with Training-Free Multimodal Large Language Models</a:t>
            </a:r>
            <a:endParaRPr lang="en-US" sz="950" dirty="0"/>
          </a:p>
        </p:txBody>
      </p:sp>
      <p:sp>
        <p:nvSpPr>
          <p:cNvPr id="21" name="Text 19"/>
          <p:cNvSpPr txBox="1"/>
          <p:nvPr/>
        </p:nvSpPr>
        <p:spPr>
          <a:xfrm>
            <a:off x="5303520" y="3611880"/>
            <a:ext cx="3246120" cy="201168"/>
          </a:xfrm>
          <a:prstGeom prst="rect">
            <a:avLst/>
          </a:prstGeom>
          <a:noFill/>
          <a:ln/>
        </p:spPr>
        <p:txBody>
          <a:bodyPr wrap="square" lIns="0" tIns="0" rIns="0" bIns="0" rtlCol="0" anchor="t"/>
          <a:lstStyle/>
          <a:p>
            <a:pPr indent="0" marL="0">
              <a:buNone/>
            </a:pPr>
            <a:r>
              <a:rPr lang="en-US" sz="900" i="1" dirty="0">
                <a:solidFill>
                  <a:srgbClr val="5B6474"/>
                </a:solidFill>
                <a:latin typeface="Calibri" pitchFamily="34" charset="0"/>
                <a:ea typeface="Calibri" pitchFamily="34" charset="-122"/>
                <a:cs typeface="Calibri" pitchFamily="34" charset="-120"/>
              </a:rPr>
              <a:t>arXiv 2026</a:t>
            </a:r>
            <a:endParaRPr lang="en-US" sz="900" dirty="0"/>
          </a:p>
        </p:txBody>
      </p:sp>
      <p:sp>
        <p:nvSpPr>
          <p:cNvPr id="22" name="Text 20"/>
          <p:cNvSpPr txBox="1"/>
          <p:nvPr/>
        </p:nvSpPr>
        <p:spPr>
          <a:xfrm>
            <a:off x="4892040" y="3849624"/>
            <a:ext cx="3657600" cy="804672"/>
          </a:xfrm>
          <a:prstGeom prst="rect">
            <a:avLst/>
          </a:prstGeom>
          <a:noFill/>
          <a:ln/>
        </p:spPr>
        <p:txBody>
          <a:bodyPr wrap="square" lIns="0" tIns="0" rIns="0" bIns="0" rtlCol="0" anchor="t">
            <a:normAutofit/>
          </a:bodyPr>
          <a:lstStyle/>
          <a:p>
            <a:pPr indent="0" marL="0">
              <a:buNone/>
            </a:pPr>
            <a:r>
              <a:rPr lang="en-US" sz="950" dirty="0">
                <a:solidFill>
                  <a:srgbClr val="1B1F27"/>
                </a:solidFill>
                <a:latin typeface="Calibri" pitchFamily="34" charset="0"/>
                <a:ea typeface="Calibri" pitchFamily="34" charset="-122"/>
                <a:cs typeface="Calibri" pitchFamily="34" charset="-120"/>
              </a:rPr>
              <a:t>Generates natural-language explanations grounded in XAI evidence using multimodal LLMs, without training the LLM.</a:t>
            </a:r>
            <a:endParaRPr lang="en-US" sz="950" dirty="0"/>
          </a:p>
        </p:txBody>
      </p:sp>
      <p:sp>
        <p:nvSpPr>
          <p:cNvPr id="23" name="Text 2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900" dirty="0">
                <a:solidFill>
                  <a:srgbClr val="5B6474"/>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320040"/>
          </a:xfrm>
          <a:prstGeom prst="rect">
            <a:avLst/>
          </a:prstGeom>
          <a:noFill/>
          <a:ln/>
        </p:spPr>
        <p:txBody>
          <a:bodyPr wrap="square" lIns="0" tIns="0" rIns="0" bIns="0" rtlCol="0" anchor="t"/>
          <a:lstStyle/>
          <a:p>
            <a:pPr indent="0" marL="0">
              <a:buNone/>
            </a:pPr>
            <a:r>
              <a:rPr lang="en-US" sz="1300" b="1" spc="200" kern="0" dirty="0">
                <a:solidFill>
                  <a:srgbClr val="FCA311"/>
                </a:solidFill>
                <a:latin typeface="Calibri" pitchFamily="34" charset="0"/>
                <a:ea typeface="Calibri" pitchFamily="34" charset="-122"/>
                <a:cs typeface="Calibri" pitchFamily="34" charset="-120"/>
              </a:rPr>
              <a:t>IF YOU ASK FOR OUR VIEW</a:t>
            </a:r>
            <a:endParaRPr lang="en-US" sz="1300" dirty="0"/>
          </a:p>
        </p:txBody>
      </p:sp>
      <p:sp>
        <p:nvSpPr>
          <p:cNvPr id="3" name="Text 1"/>
          <p:cNvSpPr txBox="1"/>
          <p:nvPr/>
        </p:nvSpPr>
        <p:spPr>
          <a:xfrm>
            <a:off x="548640" y="731520"/>
            <a:ext cx="804672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Five we would pick first</a:t>
            </a:r>
            <a:endParaRPr lang="en-US" sz="3200" dirty="0"/>
          </a:p>
        </p:txBody>
      </p:sp>
      <p:sp>
        <p:nvSpPr>
          <p:cNvPr id="4" name="Shape 2"/>
          <p:cNvSpPr/>
          <p:nvPr/>
        </p:nvSpPr>
        <p:spPr>
          <a:xfrm>
            <a:off x="548640" y="1554480"/>
            <a:ext cx="8046720" cy="530352"/>
          </a:xfrm>
          <a:prstGeom prst="roundRect">
            <a:avLst>
              <a:gd name="adj" fmla="val 10345"/>
            </a:avLst>
          </a:prstGeom>
          <a:solidFill>
            <a:srgbClr val="233559"/>
          </a:solidFill>
          <a:ln w="12700">
            <a:solidFill>
              <a:srgbClr val="233559"/>
            </a:solidFill>
            <a:prstDash val="solid"/>
          </a:ln>
        </p:spPr>
      </p:sp>
      <p:sp>
        <p:nvSpPr>
          <p:cNvPr id="5" name="Shape 3"/>
          <p:cNvSpPr/>
          <p:nvPr/>
        </p:nvSpPr>
        <p:spPr>
          <a:xfrm>
            <a:off x="713232" y="1682496"/>
            <a:ext cx="274320" cy="274320"/>
          </a:xfrm>
          <a:prstGeom prst="ellipse">
            <a:avLst/>
          </a:prstGeom>
          <a:solidFill>
            <a:srgbClr val="2E9E5B"/>
          </a:solidFill>
          <a:ln w="12700">
            <a:solidFill>
              <a:srgbClr val="2E9E5B"/>
            </a:solidFill>
            <a:prstDash val="solid"/>
          </a:ln>
        </p:spPr>
      </p:sp>
      <p:sp>
        <p:nvSpPr>
          <p:cNvPr id="6" name="Text 4"/>
          <p:cNvSpPr txBox="1"/>
          <p:nvPr/>
        </p:nvSpPr>
        <p:spPr>
          <a:xfrm>
            <a:off x="713232" y="168249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t>
            </a:r>
            <a:endParaRPr lang="en-US" sz="1000" dirty="0"/>
          </a:p>
        </p:txBody>
      </p:sp>
      <p:sp>
        <p:nvSpPr>
          <p:cNvPr id="7" name="Text 5"/>
          <p:cNvSpPr txBox="1"/>
          <p:nvPr/>
        </p:nvSpPr>
        <p:spPr>
          <a:xfrm>
            <a:off x="1143000" y="1600200"/>
            <a:ext cx="722376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Silence-shortcut audit</a:t>
            </a:r>
            <a:pPr indent="0" marL="0">
              <a:buNone/>
            </a:pPr>
            <a:r>
              <a:rPr lang="en-US" sz="1300" dirty="0">
                <a:solidFill>
                  <a:srgbClr val="FCA311"/>
                </a:solidFill>
                <a:latin typeface="Calibri" pitchFamily="34" charset="0"/>
                <a:ea typeface="Calibri" pitchFamily="34" charset="-122"/>
                <a:cs typeface="Calibri" pitchFamily="34" charset="-120"/>
              </a:rPr>
              <a:t>   Yukti</a:t>
            </a:r>
            <a:endParaRPr lang="en-US" sz="1300" dirty="0"/>
          </a:p>
        </p:txBody>
      </p:sp>
      <p:sp>
        <p:nvSpPr>
          <p:cNvPr id="8" name="Text 6"/>
          <p:cNvSpPr txBox="1"/>
          <p:nvPr/>
        </p:nvSpPr>
        <p:spPr>
          <a:xfrm>
            <a:off x="1143000" y="1828800"/>
            <a:ext cx="7223760" cy="219456"/>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Protects our 1.49% headline from the best-known ASVspoof artefact.</a:t>
            </a:r>
            <a:endParaRPr lang="en-US" sz="1050" dirty="0"/>
          </a:p>
        </p:txBody>
      </p:sp>
      <p:sp>
        <p:nvSpPr>
          <p:cNvPr id="9" name="Shape 7"/>
          <p:cNvSpPr/>
          <p:nvPr/>
        </p:nvSpPr>
        <p:spPr>
          <a:xfrm>
            <a:off x="548640" y="2176272"/>
            <a:ext cx="8046720" cy="530352"/>
          </a:xfrm>
          <a:prstGeom prst="roundRect">
            <a:avLst>
              <a:gd name="adj" fmla="val 10345"/>
            </a:avLst>
          </a:prstGeom>
          <a:solidFill>
            <a:srgbClr val="233559"/>
          </a:solidFill>
          <a:ln w="12700">
            <a:solidFill>
              <a:srgbClr val="233559"/>
            </a:solidFill>
            <a:prstDash val="solid"/>
          </a:ln>
        </p:spPr>
      </p:sp>
      <p:sp>
        <p:nvSpPr>
          <p:cNvPr id="10" name="Shape 8"/>
          <p:cNvSpPr/>
          <p:nvPr/>
        </p:nvSpPr>
        <p:spPr>
          <a:xfrm>
            <a:off x="713232" y="2304288"/>
            <a:ext cx="274320" cy="274320"/>
          </a:xfrm>
          <a:prstGeom prst="ellipse">
            <a:avLst/>
          </a:prstGeom>
          <a:solidFill>
            <a:srgbClr val="D98E04"/>
          </a:solidFill>
          <a:ln w="12700">
            <a:solidFill>
              <a:srgbClr val="D98E04"/>
            </a:solidFill>
            <a:prstDash val="solid"/>
          </a:ln>
        </p:spPr>
      </p:sp>
      <p:sp>
        <p:nvSpPr>
          <p:cNvPr id="11" name="Text 9"/>
          <p:cNvSpPr txBox="1"/>
          <p:nvPr/>
        </p:nvSpPr>
        <p:spPr>
          <a:xfrm>
            <a:off x="713232" y="23042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t>
            </a:r>
            <a:endParaRPr lang="en-US" sz="1000" dirty="0"/>
          </a:p>
        </p:txBody>
      </p:sp>
      <p:sp>
        <p:nvSpPr>
          <p:cNvPr id="12" name="Text 10"/>
          <p:cNvSpPr txBox="1"/>
          <p:nvPr/>
        </p:nvSpPr>
        <p:spPr>
          <a:xfrm>
            <a:off x="1143000" y="2221992"/>
            <a:ext cx="722376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Real-call platform robustness</a:t>
            </a:r>
            <a:pPr indent="0" marL="0">
              <a:buNone/>
            </a:pPr>
            <a:r>
              <a:rPr lang="en-US" sz="1300" dirty="0">
                <a:solidFill>
                  <a:srgbClr val="FCA311"/>
                </a:solidFill>
                <a:latin typeface="Calibri" pitchFamily="34" charset="0"/>
                <a:ea typeface="Calibri" pitchFamily="34" charset="-122"/>
                <a:cs typeface="Calibri" pitchFamily="34" charset="-120"/>
              </a:rPr>
              <a:t>   Anubhav</a:t>
            </a:r>
            <a:endParaRPr lang="en-US" sz="1300" dirty="0"/>
          </a:p>
        </p:txBody>
      </p:sp>
      <p:sp>
        <p:nvSpPr>
          <p:cNvPr id="13" name="Text 11"/>
          <p:cNvSpPr txBox="1"/>
          <p:nvPr/>
        </p:nvSpPr>
        <p:spPr>
          <a:xfrm>
            <a:off x="1143000" y="2450592"/>
            <a:ext cx="7223760" cy="219456"/>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Answers "does it work on a real Meet/WhatsApp call?" with data.</a:t>
            </a:r>
            <a:endParaRPr lang="en-US" sz="1050" dirty="0"/>
          </a:p>
        </p:txBody>
      </p:sp>
      <p:sp>
        <p:nvSpPr>
          <p:cNvPr id="14" name="Shape 12"/>
          <p:cNvSpPr/>
          <p:nvPr/>
        </p:nvSpPr>
        <p:spPr>
          <a:xfrm>
            <a:off x="548640" y="2798064"/>
            <a:ext cx="8046720" cy="530352"/>
          </a:xfrm>
          <a:prstGeom prst="roundRect">
            <a:avLst>
              <a:gd name="adj" fmla="val 10345"/>
            </a:avLst>
          </a:prstGeom>
          <a:solidFill>
            <a:srgbClr val="233559"/>
          </a:solidFill>
          <a:ln w="12700">
            <a:solidFill>
              <a:srgbClr val="233559"/>
            </a:solidFill>
            <a:prstDash val="solid"/>
          </a:ln>
        </p:spPr>
      </p:sp>
      <p:sp>
        <p:nvSpPr>
          <p:cNvPr id="15" name="Shape 13"/>
          <p:cNvSpPr/>
          <p:nvPr/>
        </p:nvSpPr>
        <p:spPr>
          <a:xfrm>
            <a:off x="713232" y="2926080"/>
            <a:ext cx="274320" cy="274320"/>
          </a:xfrm>
          <a:prstGeom prst="ellipse">
            <a:avLst/>
          </a:prstGeom>
          <a:solidFill>
            <a:srgbClr val="D98E04"/>
          </a:solidFill>
          <a:ln w="12700">
            <a:solidFill>
              <a:srgbClr val="D98E04"/>
            </a:solidFill>
            <a:prstDash val="solid"/>
          </a:ln>
        </p:spPr>
      </p:sp>
      <p:sp>
        <p:nvSpPr>
          <p:cNvPr id="16" name="Text 14"/>
          <p:cNvSpPr txBox="1"/>
          <p:nvPr/>
        </p:nvSpPr>
        <p:spPr>
          <a:xfrm>
            <a:off x="713232" y="2926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t>
            </a:r>
            <a:endParaRPr lang="en-US" sz="1000" dirty="0"/>
          </a:p>
        </p:txBody>
      </p:sp>
      <p:sp>
        <p:nvSpPr>
          <p:cNvPr id="17" name="Text 15"/>
          <p:cNvSpPr txBox="1"/>
          <p:nvPr/>
        </p:nvSpPr>
        <p:spPr>
          <a:xfrm>
            <a:off x="1143000" y="2843784"/>
            <a:ext cx="722376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Replay robustness</a:t>
            </a:r>
            <a:pPr indent="0" marL="0">
              <a:buNone/>
            </a:pPr>
            <a:r>
              <a:rPr lang="en-US" sz="1300" dirty="0">
                <a:solidFill>
                  <a:srgbClr val="FCA311"/>
                </a:solidFill>
                <a:latin typeface="Calibri" pitchFamily="34" charset="0"/>
                <a:ea typeface="Calibri" pitchFamily="34" charset="-122"/>
                <a:cs typeface="Calibri" pitchFamily="34" charset="-120"/>
              </a:rPr>
              <a:t>   Anubhav</a:t>
            </a:r>
            <a:endParaRPr lang="en-US" sz="1300" dirty="0"/>
          </a:p>
        </p:txBody>
      </p:sp>
      <p:sp>
        <p:nvSpPr>
          <p:cNvPr id="18" name="Text 16"/>
          <p:cNvSpPr txBox="1"/>
          <p:nvPr/>
        </p:nvSpPr>
        <p:spPr>
          <a:xfrm>
            <a:off x="1143000" y="3072384"/>
            <a:ext cx="7223760" cy="219456"/>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The way scams are actually carried out; strong published evidence.</a:t>
            </a:r>
            <a:endParaRPr lang="en-US" sz="1050" dirty="0"/>
          </a:p>
        </p:txBody>
      </p:sp>
      <p:sp>
        <p:nvSpPr>
          <p:cNvPr id="19" name="Shape 17"/>
          <p:cNvSpPr/>
          <p:nvPr/>
        </p:nvSpPr>
        <p:spPr>
          <a:xfrm>
            <a:off x="548640" y="3419856"/>
            <a:ext cx="8046720" cy="530352"/>
          </a:xfrm>
          <a:prstGeom prst="roundRect">
            <a:avLst>
              <a:gd name="adj" fmla="val 10345"/>
            </a:avLst>
          </a:prstGeom>
          <a:solidFill>
            <a:srgbClr val="233559"/>
          </a:solidFill>
          <a:ln w="12700">
            <a:solidFill>
              <a:srgbClr val="233559"/>
            </a:solidFill>
            <a:prstDash val="solid"/>
          </a:ln>
        </p:spPr>
      </p:sp>
      <p:sp>
        <p:nvSpPr>
          <p:cNvPr id="20" name="Shape 18"/>
          <p:cNvSpPr/>
          <p:nvPr/>
        </p:nvSpPr>
        <p:spPr>
          <a:xfrm>
            <a:off x="713232" y="3547872"/>
            <a:ext cx="274320" cy="274320"/>
          </a:xfrm>
          <a:prstGeom prst="ellipse">
            <a:avLst/>
          </a:prstGeom>
          <a:solidFill>
            <a:srgbClr val="C0392B"/>
          </a:solidFill>
          <a:ln w="12700">
            <a:solidFill>
              <a:srgbClr val="C0392B"/>
            </a:solidFill>
            <a:prstDash val="solid"/>
          </a:ln>
        </p:spPr>
      </p:sp>
      <p:sp>
        <p:nvSpPr>
          <p:cNvPr id="21" name="Text 19"/>
          <p:cNvSpPr txBox="1"/>
          <p:nvPr/>
        </p:nvSpPr>
        <p:spPr>
          <a:xfrm>
            <a:off x="713232" y="35478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t>
            </a:r>
            <a:endParaRPr lang="en-US" sz="1000" dirty="0"/>
          </a:p>
        </p:txBody>
      </p:sp>
      <p:sp>
        <p:nvSpPr>
          <p:cNvPr id="22" name="Text 20"/>
          <p:cNvSpPr txBox="1"/>
          <p:nvPr/>
        </p:nvSpPr>
        <p:spPr>
          <a:xfrm>
            <a:off x="1143000" y="3465576"/>
            <a:ext cx="722376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Partial-fake localisation</a:t>
            </a:r>
            <a:pPr indent="0" marL="0">
              <a:buNone/>
            </a:pPr>
            <a:r>
              <a:rPr lang="en-US" sz="1300" dirty="0">
                <a:solidFill>
                  <a:srgbClr val="FCA311"/>
                </a:solidFill>
                <a:latin typeface="Calibri" pitchFamily="34" charset="0"/>
                <a:ea typeface="Calibri" pitchFamily="34" charset="-122"/>
                <a:cs typeface="Calibri" pitchFamily="34" charset="-120"/>
              </a:rPr>
              <a:t>   Yugal</a:t>
            </a:r>
            <a:endParaRPr lang="en-US" sz="1300" dirty="0"/>
          </a:p>
        </p:txBody>
      </p:sp>
      <p:sp>
        <p:nvSpPr>
          <p:cNvPr id="23" name="Text 21"/>
          <p:cNvSpPr txBox="1"/>
          <p:nvPr/>
        </p:nvSpPr>
        <p:spPr>
          <a:xfrm>
            <a:off x="1143000" y="3694176"/>
            <a:ext cx="7223760" cy="219456"/>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Fixes a blind spot our own smoothing creates; strong demo moment.</a:t>
            </a:r>
            <a:endParaRPr lang="en-US" sz="1050" dirty="0"/>
          </a:p>
        </p:txBody>
      </p:sp>
      <p:sp>
        <p:nvSpPr>
          <p:cNvPr id="24" name="Shape 22"/>
          <p:cNvSpPr/>
          <p:nvPr/>
        </p:nvSpPr>
        <p:spPr>
          <a:xfrm>
            <a:off x="548640" y="4041648"/>
            <a:ext cx="8046720" cy="530352"/>
          </a:xfrm>
          <a:prstGeom prst="roundRect">
            <a:avLst>
              <a:gd name="adj" fmla="val 10345"/>
            </a:avLst>
          </a:prstGeom>
          <a:solidFill>
            <a:srgbClr val="233559"/>
          </a:solidFill>
          <a:ln w="12700">
            <a:solidFill>
              <a:srgbClr val="233559"/>
            </a:solidFill>
            <a:prstDash val="solid"/>
          </a:ln>
        </p:spPr>
      </p:sp>
      <p:sp>
        <p:nvSpPr>
          <p:cNvPr id="25" name="Shape 23"/>
          <p:cNvSpPr/>
          <p:nvPr/>
        </p:nvSpPr>
        <p:spPr>
          <a:xfrm>
            <a:off x="713232" y="4169664"/>
            <a:ext cx="274320" cy="274320"/>
          </a:xfrm>
          <a:prstGeom prst="ellipse">
            <a:avLst/>
          </a:prstGeom>
          <a:solidFill>
            <a:srgbClr val="D98E04"/>
          </a:solidFill>
          <a:ln w="12700">
            <a:solidFill>
              <a:srgbClr val="D98E04"/>
            </a:solidFill>
            <a:prstDash val="solid"/>
          </a:ln>
        </p:spPr>
      </p:sp>
      <p:sp>
        <p:nvSpPr>
          <p:cNvPr id="26" name="Text 24"/>
          <p:cNvSpPr txBox="1"/>
          <p:nvPr/>
        </p:nvSpPr>
        <p:spPr>
          <a:xfrm>
            <a:off x="713232" y="41696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t>
            </a:r>
            <a:endParaRPr lang="en-US" sz="1000" dirty="0"/>
          </a:p>
        </p:txBody>
      </p:sp>
      <p:sp>
        <p:nvSpPr>
          <p:cNvPr id="27" name="Text 25"/>
          <p:cNvSpPr txBox="1"/>
          <p:nvPr/>
        </p:nvSpPr>
        <p:spPr>
          <a:xfrm>
            <a:off x="1143000" y="4087368"/>
            <a:ext cx="722376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Trusted-contact voiceprint / challenge-response</a:t>
            </a:r>
            <a:pPr indent="0" marL="0">
              <a:buNone/>
            </a:pPr>
            <a:r>
              <a:rPr lang="en-US" sz="1300" dirty="0">
                <a:solidFill>
                  <a:srgbClr val="FCA311"/>
                </a:solidFill>
                <a:latin typeface="Calibri" pitchFamily="34" charset="0"/>
                <a:ea typeface="Calibri" pitchFamily="34" charset="-122"/>
                <a:cs typeface="Calibri" pitchFamily="34" charset="-120"/>
              </a:rPr>
              <a:t>   Akshat / Suryansh</a:t>
            </a:r>
            <a:endParaRPr lang="en-US" sz="1300" dirty="0"/>
          </a:p>
        </p:txBody>
      </p:sp>
      <p:sp>
        <p:nvSpPr>
          <p:cNvPr id="28" name="Text 26"/>
          <p:cNvSpPr txBox="1"/>
          <p:nvPr/>
        </p:nvSpPr>
        <p:spPr>
          <a:xfrm>
            <a:off x="1143000" y="4315968"/>
            <a:ext cx="7223760" cy="219456"/>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Most user-visible; gives the human an action in Amber.</a:t>
            </a:r>
            <a:endParaRPr lang="en-US" sz="1050" dirty="0"/>
          </a:p>
        </p:txBody>
      </p:sp>
      <p:sp>
        <p:nvSpPr>
          <p:cNvPr id="29" name="Text 27"/>
          <p:cNvSpPr txBox="1"/>
          <p:nvPr/>
        </p:nvSpPr>
        <p:spPr>
          <a:xfrm>
            <a:off x="548640" y="4736592"/>
            <a:ext cx="7680960" cy="228600"/>
          </a:xfrm>
          <a:prstGeom prst="rect">
            <a:avLst/>
          </a:prstGeom>
          <a:noFill/>
          <a:ln/>
        </p:spPr>
        <p:txBody>
          <a:bodyPr wrap="square" lIns="0" tIns="0" rIns="0" bIns="0" rtlCol="0" anchor="t"/>
          <a:lstStyle/>
          <a:p>
            <a:pPr indent="0" marL="0">
              <a:buNone/>
            </a:pPr>
            <a:r>
              <a:rPr lang="en-US" sz="1000" dirty="0">
                <a:solidFill>
                  <a:srgbClr val="8C97AD"/>
                </a:solidFill>
                <a:latin typeface="Calibri" pitchFamily="34" charset="0"/>
                <a:ea typeface="Calibri" pitchFamily="34" charset="-122"/>
                <a:cs typeface="Calibri" pitchFamily="34" charset="-120"/>
              </a:rPr>
              <a:t>The final top 5 is your call. Full paper notes and all 60 references are in SONIX_Feature_Research.docx.</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SONIX feature research</dc:title>
  <dc:subject>PptxGenJS Presentation</dc:subject>
  <dc:creator>PptxGenJS</dc:creator>
  <cp:lastModifiedBy>PptxGenJS</cp:lastModifiedBy>
  <cp:revision>1</cp:revision>
  <dcterms:created xsi:type="dcterms:W3CDTF">2026-09-24T20:15:53Z</dcterms:created>
  <dcterms:modified xsi:type="dcterms:W3CDTF">2026-09-24T20:15:53Z</dcterms:modified>
</cp:coreProperties>
</file>